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quity-intelligence-dashboard-2-takthjuvpv7gfysstzxdub.streamlit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streamlit_app.py" TargetMode="External"/><Relationship Id="rId3" Type="http://schemas.openxmlformats.org/officeDocument/2006/relationships/hyperlink" Target="https://github.com/AbishSajiNMIMS/Equity-Intelligence-Dashboard-2/blob/main/data_loader.py" TargetMode="External"/><Relationship Id="rId4" Type="http://schemas.openxmlformats.org/officeDocument/2006/relationships/hyperlink" Target="https://github.com/AbishSajiNMIMS/Equity-Intelligence-Dashboard-2/blob/main/abish_stats.py" TargetMode="External"/><Relationship Id="rId5" Type="http://schemas.openxmlformats.org/officeDocument/2006/relationships/hyperlink" Target="https://github.com/AbishSajiNMIMS/Equity-Intelligence-Dashboard-2/blob/main/laksh_ml.py" TargetMode="External"/><Relationship Id="rId6" Type="http://schemas.openxmlformats.org/officeDocument/2006/relationships/hyperlink" Target="https://github.com/AbishSajiNMIMS/Equity-Intelligence-Dashboard-2/blob/main/requirements.txt" TargetMode="External"/><Relationship Id="rId7" Type="http://schemas.openxmlformats.org/officeDocument/2006/relationships/hyperlink" Target="https://github.com/AbishSajiNMIMS/Equity-Intelligence-Dashboard-2/blob/main/streamlit_app.py#L75-L87" TargetMode="External"/><Relationship Id="rId8" Type="http://schemas.openxmlformats.org/officeDocument/2006/relationships/hyperlink" Target="https://github.com/AbishSajiNMIMS/Equity-Intelligence-Dashboard-2/blob/main/streamlit_app.py#L94-L102" TargetMode="External"/><Relationship Id="rId9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data_loader.py#L62-L67" TargetMode="External"/><Relationship Id="rId3" Type="http://schemas.openxmlformats.org/officeDocument/2006/relationships/hyperlink" Target="https://github.com/AbishSajiNMIMS/Equity-Intelligence-Dashboard-2/blob/main/streamlit_app.py#L36-L37" TargetMode="External"/><Relationship Id="rId4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github.com/AbishSajiNMIMS/Equity-Intelligence-Dashboard-2/blob/main/streamlit_app.py#L47-L51" TargetMode="External"/><Relationship Id="rId5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AbishSajiNMIMS/Equity-Intelligence-Dashboard-2/blob/main/streamlit_app.py#L150-L167" TargetMode="External"/><Relationship Id="rId4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abish_stats.py#L16-L43" TargetMode="Externa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AbishSajiNMIMS/Equity-Intelligence-Dashboard-2/blob/main/abish_stats.py#L46-L52" TargetMode="External"/><Relationship Id="rId4" Type="http://schemas.openxmlformats.org/officeDocument/2006/relationships/hyperlink" Target="https://github.com/AbishSajiNMIMS/Equity-Intelligence-Dashboard-2/blob/main/streamlit_app.py#L188-L197" TargetMode="Externa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abish_stats.py#L59-L83" TargetMode="External"/><Relationship Id="rId3" Type="http://schemas.openxmlformats.org/officeDocument/2006/relationships/hyperlink" Target="https://github.com/AbishSajiNMIMS/Equity-Intelligence-Dashboard-2/blob/main/abish_stats.py#L105-L122" TargetMode="External"/><Relationship Id="rId4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AbishSajiNMIMS/Equity-Intelligence-Dashboard-2/blob/main/streamlit_app.py#L218-L301" TargetMode="External"/><Relationship Id="rId4" Type="http://schemas.openxmlformats.org/officeDocument/2006/relationships/hyperlink" Target="https://github.com/AbishSajiNMIMS/Equity-Intelligence-Dashboard-2/blob/main/streamlit_app.py#L40-L44" TargetMode="External"/><Relationship Id="rId5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abish_stats.py#L149-L162" TargetMode="External"/><Relationship Id="rId3" Type="http://schemas.openxmlformats.org/officeDocument/2006/relationships/hyperlink" Target="https://github.com/AbishSajiNMIMS/Equity-Intelligence-Dashboard-2/blob/main/data_loader.py#L70-L74" TargetMode="Externa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AbishSajiNMIMS/Equity-Intelligence-Dashboard-2/blob/main/streamlit_app.py#L315-L352" TargetMode="Externa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laksh_ml.py#L68-L106" TargetMode="Externa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github.com/AbishSajiNMIMS/Equity-Intelligence-Dashboard-2/blob/main/laksh_ml.py#L109-L116" TargetMode="External"/><Relationship Id="rId5" Type="http://schemas.openxmlformats.org/officeDocument/2006/relationships/hyperlink" Target="https://github.com/AbishSajiNMIMS/Equity-Intelligence-Dashboard-2/blob/main/streamlit_app.py#L394-L403" TargetMode="External"/><Relationship Id="rId6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data_loader.py#L89-L119" TargetMode="Externa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ishSajiNMIMS/Equity-Intelligence-Dashboard-2/blob/main/laksh_ml.py#L23-L36" TargetMode="External"/><Relationship Id="rId3" Type="http://schemas.openxmlformats.org/officeDocument/2006/relationships/hyperlink" Target="https://github.com/AbishSajiNMIMS/Equity-Intelligence-Dashboard-2/blob/main/laksh_ml.py#L155-L190" TargetMode="External"/><Relationship Id="rId4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github.com/AbishSajiNMIMS/Equity-Intelligence-Dashboard-2/blob/main/streamlit_app.py#L436-L444" TargetMode="External"/><Relationship Id="rId5" Type="http://schemas.openxmlformats.org/officeDocument/2006/relationships/hyperlink" Target="https://github.com/AbishSajiNMIMS/Equity-Intelligence-Dashboard-2/blob/main/streamlit_app.py#L447-L455" TargetMode="External"/><Relationship Id="rId6" Type="http://schemas.openxmlformats.org/officeDocument/2006/relationships/hyperlink" Target="https://github.com/AbishSajiNMIMS/Equity-Intelligence-Dashboard-2/blob/main/laksh_ml.py#L197-L214" TargetMode="External"/><Relationship Id="rId7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AbishSajiNMIMS/Equity-Intelligence-Dashboard-2/blob/main/streamlit_app.py#L457-L478" TargetMode="External"/><Relationship Id="rId4" Type="http://schemas.openxmlformats.org/officeDocument/2006/relationships/hyperlink" Target="https://github.com/AbishSajiNMIMS/Equity-Intelligence-Dashboard-2/blob/main/laksh_ml.py#L60-L62" TargetMode="External"/><Relationship Id="rId5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quity-intelligence-dashboard-2-takthjuvpv7gfysstzxdub.streamlit.app" TargetMode="External"/><Relationship Id="rId3" Type="http://schemas.openxmlformats.org/officeDocument/2006/relationships/hyperlink" Target="https://github.com/AbishSajiNMIMS/Equity-Intelligence-Dashboard-2" TargetMode="Externa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0" y="640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 i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Equity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BBBBBB"/>
                </a:solidFill>
                <a:latin typeface="Calibri"/>
              </a:defRPr>
            </a:pPr>
            <a:r>
              <a:t>A Statistical &amp; Machine Learning Dashboard for Indian Equity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F77B4"/>
                </a:solidFill>
                <a:latin typeface="Calibri"/>
              </a:defRPr>
            </a:pPr>
            <a:r>
              <a:t>Streamlit  ·  yfinance  ·  Plotly  ·  scikit-learn  ·  SciPy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114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u="sng" b="1">
                <a:solidFill>
                  <a:srgbClr val="1F77B4"/>
                </a:solidFill>
                <a:hlinkClick r:id="rId2"/>
              </a:rPr>
              <a:t>🌐  View Live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BBBBB"/>
                </a:solidFill>
                <a:latin typeface="Calibri"/>
              </a:defRPr>
            </a:pPr>
            <a:r>
              <a:t>AbishSajiNMIMS/Equity-Intelligence-Dashboard-2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Click any section to jump directly to it</a:t>
            </a:r>
          </a:p>
        </p:txBody>
      </p:sp>
      <p:sp>
        <p:nvSpPr>
          <p:cNvPr id="5" name="Rectangle 4">
            <a:hlinkClick action="ppaction://hlinksldjump" r:id="rId2"/>
          </p:cNvPr>
          <p:cNvSpPr/>
          <p:nvPr/>
        </p:nvSpPr>
        <p:spPr>
          <a:xfrm>
            <a:off x="457200" y="960120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1.  Project Overview</a:t>
            </a:r>
          </a:p>
        </p:txBody>
      </p:sp>
      <p:sp>
        <p:nvSpPr>
          <p:cNvPr id="6" name="Rectangle 5">
            <a:hlinkClick action="ppaction://hlinksldjump" r:id="rId3"/>
          </p:cNvPr>
          <p:cNvSpPr/>
          <p:nvPr/>
        </p:nvSpPr>
        <p:spPr>
          <a:xfrm>
            <a:off x="457200" y="1453896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2.  Architecture &amp; File Structure</a:t>
            </a:r>
          </a:p>
        </p:txBody>
      </p:sp>
      <p:sp>
        <p:nvSpPr>
          <p:cNvPr id="7" name="Rectangle 6">
            <a:hlinkClick action="ppaction://hlinksldjump" r:id="rId4"/>
          </p:cNvPr>
          <p:cNvSpPr/>
          <p:nvPr/>
        </p:nvSpPr>
        <p:spPr>
          <a:xfrm>
            <a:off x="457200" y="1947672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 Theory: Returns &amp; Distributions</a:t>
            </a:r>
          </a:p>
        </p:txBody>
      </p:sp>
      <p:sp>
        <p:nvSpPr>
          <p:cNvPr id="8" name="Rectangle 7">
            <a:hlinkClick action="ppaction://hlinksldjump" r:id="rId5"/>
          </p:cNvPr>
          <p:cNvSpPr/>
          <p:nvPr/>
        </p:nvSpPr>
        <p:spPr>
          <a:xfrm>
            <a:off x="457200" y="2441448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4.  Price History (Tab 1)</a:t>
            </a:r>
          </a:p>
        </p:txBody>
      </p:sp>
      <p:sp>
        <p:nvSpPr>
          <p:cNvPr id="9" name="Rectangle 8">
            <a:hlinkClick action="ppaction://hlinksldjump" r:id="rId6"/>
          </p:cNvPr>
          <p:cNvSpPr/>
          <p:nvPr/>
        </p:nvSpPr>
        <p:spPr>
          <a:xfrm>
            <a:off x="457200" y="2935224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5.  Return Distribution (Tab 1)</a:t>
            </a:r>
          </a:p>
        </p:txBody>
      </p:sp>
      <p:sp>
        <p:nvSpPr>
          <p:cNvPr id="10" name="Rectangle 9">
            <a:hlinkClick action="ppaction://hlinksldjump" r:id="rId7"/>
          </p:cNvPr>
          <p:cNvSpPr/>
          <p:nvPr/>
        </p:nvSpPr>
        <p:spPr>
          <a:xfrm>
            <a:off x="457200" y="3429000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 Theory: Confidence Intervals &amp; MLE</a:t>
            </a:r>
          </a:p>
        </p:txBody>
      </p:sp>
      <p:sp>
        <p:nvSpPr>
          <p:cNvPr id="11" name="Rectangle 10">
            <a:hlinkClick action="ppaction://hlinksldjump" r:id="rId8"/>
          </p:cNvPr>
          <p:cNvSpPr/>
          <p:nvPr/>
        </p:nvSpPr>
        <p:spPr>
          <a:xfrm>
            <a:off x="457200" y="3922776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7.  Risk Profile (Tab 2)</a:t>
            </a:r>
          </a:p>
        </p:txBody>
      </p:sp>
      <p:sp>
        <p:nvSpPr>
          <p:cNvPr id="12" name="Rectangle 11">
            <a:hlinkClick action="ppaction://hlinksldjump" r:id="rId9"/>
          </p:cNvPr>
          <p:cNvSpPr/>
          <p:nvPr/>
        </p:nvSpPr>
        <p:spPr>
          <a:xfrm>
            <a:off x="457200" y="4416552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8.  Theory: Hypothesis Testing</a:t>
            </a:r>
          </a:p>
        </p:txBody>
      </p:sp>
      <p:sp>
        <p:nvSpPr>
          <p:cNvPr id="13" name="Rectangle 12">
            <a:hlinkClick action="ppaction://hlinksldjump" r:id="rId10"/>
          </p:cNvPr>
          <p:cNvSpPr/>
          <p:nvPr/>
        </p:nvSpPr>
        <p:spPr>
          <a:xfrm>
            <a:off x="457200" y="4910328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9.  Hypothesis Tests (Tab 3)</a:t>
            </a:r>
          </a:p>
        </p:txBody>
      </p:sp>
      <p:sp>
        <p:nvSpPr>
          <p:cNvPr id="14" name="Rectangle 13">
            <a:hlinkClick action="ppaction://hlinksldjump" r:id="rId11"/>
          </p:cNvPr>
          <p:cNvSpPr/>
          <p:nvPr/>
        </p:nvSpPr>
        <p:spPr>
          <a:xfrm>
            <a:off x="6309360" y="960120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10. Theory: One-Way ANOVA</a:t>
            </a:r>
          </a:p>
        </p:txBody>
      </p:sp>
      <p:sp>
        <p:nvSpPr>
          <p:cNvPr id="15" name="Rectangle 14">
            <a:hlinkClick action="ppaction://hlinksldjump" r:id="rId12"/>
          </p:cNvPr>
          <p:cNvSpPr/>
          <p:nvPr/>
        </p:nvSpPr>
        <p:spPr>
          <a:xfrm>
            <a:off x="6309360" y="1453896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11. Sector Analysis (Tab 4)</a:t>
            </a:r>
          </a:p>
        </p:txBody>
      </p:sp>
      <p:sp>
        <p:nvSpPr>
          <p:cNvPr id="16" name="Rectangle 15">
            <a:hlinkClick action="ppaction://hlinksldjump" r:id="rId13"/>
          </p:cNvPr>
          <p:cNvSpPr/>
          <p:nvPr/>
        </p:nvSpPr>
        <p:spPr>
          <a:xfrm>
            <a:off x="6309360" y="1947672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12. Theory: Logistic Regression</a:t>
            </a:r>
          </a:p>
        </p:txBody>
      </p:sp>
      <p:sp>
        <p:nvSpPr>
          <p:cNvPr id="17" name="Rectangle 16">
            <a:hlinkClick action="ppaction://hlinksldjump" r:id="rId14"/>
          </p:cNvPr>
          <p:cNvSpPr/>
          <p:nvPr/>
        </p:nvSpPr>
        <p:spPr>
          <a:xfrm>
            <a:off x="6309360" y="2441448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13. ML Predictions (Tab 5)</a:t>
            </a:r>
          </a:p>
        </p:txBody>
      </p:sp>
      <p:sp>
        <p:nvSpPr>
          <p:cNvPr id="18" name="Rectangle 17">
            <a:hlinkClick action="ppaction://hlinksldjump" r:id="rId15"/>
          </p:cNvPr>
          <p:cNvSpPr/>
          <p:nvPr/>
        </p:nvSpPr>
        <p:spPr>
          <a:xfrm>
            <a:off x="6309360" y="2935224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14. Feature Engineering Pipeline</a:t>
            </a:r>
          </a:p>
        </p:txBody>
      </p:sp>
      <p:sp>
        <p:nvSpPr>
          <p:cNvPr id="19" name="Rectangle 18">
            <a:hlinkClick action="ppaction://hlinksldjump" r:id="rId16"/>
          </p:cNvPr>
          <p:cNvSpPr/>
          <p:nvPr/>
        </p:nvSpPr>
        <p:spPr>
          <a:xfrm>
            <a:off x="6309360" y="3429000"/>
            <a:ext cx="5669280" cy="402336"/>
          </a:xfrm>
          <a:prstGeom prst="rect">
            <a:avLst/>
          </a:prstGeom>
          <a:solidFill>
            <a:srgbClr val="122A3E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15. Theory: Ridge &amp; Lasso Regularisation</a:t>
            </a:r>
          </a:p>
        </p:txBody>
      </p:sp>
      <p:sp>
        <p:nvSpPr>
          <p:cNvPr id="20" name="Rectangle 19">
            <a:hlinkClick action="ppaction://hlinksldjump" r:id="rId17"/>
          </p:cNvPr>
          <p:cNvSpPr/>
          <p:nvPr/>
        </p:nvSpPr>
        <p:spPr>
          <a:xfrm>
            <a:off x="6309360" y="3922776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16. Ridge &amp; Lasso Regression (Tab 6)</a:t>
            </a:r>
          </a:p>
        </p:txBody>
      </p:sp>
      <p:sp>
        <p:nvSpPr>
          <p:cNvPr id="21" name="Rectangle 20">
            <a:hlinkClick action="ppaction://hlinksldjump" r:id="rId18"/>
          </p:cNvPr>
          <p:cNvSpPr/>
          <p:nvPr/>
        </p:nvSpPr>
        <p:spPr>
          <a:xfrm>
            <a:off x="6309360" y="4416552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17. Regularization Path</a:t>
            </a:r>
          </a:p>
        </p:txBody>
      </p:sp>
      <p:sp>
        <p:nvSpPr>
          <p:cNvPr id="22" name="Rectangle 21">
            <a:hlinkClick action="ppaction://hlinksldjump" r:id="rId19"/>
          </p:cNvPr>
          <p:cNvSpPr/>
          <p:nvPr/>
        </p:nvSpPr>
        <p:spPr>
          <a:xfrm>
            <a:off x="6309360" y="4910328"/>
            <a:ext cx="5669280" cy="402336"/>
          </a:xfrm>
          <a:prstGeom prst="rect">
            <a:avLst/>
          </a:prstGeom>
          <a:solidFill>
            <a:srgbClr val="173A5C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E5B4"/>
                </a:solidFill>
                <a:latin typeface="Calibri"/>
              </a:defRPr>
            </a:pPr>
            <a:r>
              <a:t>18. Summary &amp;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BBBBB"/>
                </a:solidFill>
                <a:latin typeface="Calibri"/>
              </a:defRPr>
            </a:pPr>
            <a:r>
              <a:t>🔵 Theory slides    🟠 Dashboard slides    (click any button to jump)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What the Equity Intelligence Dashboard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760720" cy="192024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Purpose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Interactive Streamlit app for analysing Indian NSE-listed stocks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Combines descriptive stats, inferential tests, and ML models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Live data downloaded from Yahoo Finance via yfinance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Covers 5 major sectors — 25 stocks total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Runs entirely in-browser; no local installation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7F0E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8328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Price history &amp; daily return distributions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Confidence intervals + Maximum Likelihood Estimation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Z-Test, t-Tests (one-sample, two-sample, paired)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One-Way ANOVA for sector comparison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Logistic Regression: next-day direction signal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Ridge &amp; Lasso with auto-tuned regularisation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868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7F0E"/>
                </a:solidFill>
                <a:latin typeface="Calibri"/>
              </a:defRPr>
            </a:pPr>
            <a:r>
              <a:t>Sectors &amp; 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Banking:  HDFC Bank, ICICI, Kotak, Axis, SBI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IT:       TCS, Infosys, Wipro, HCL Tech, Tech Mahindra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FMCG:     HUL, Nestle, Britannia, Dabur, Marico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Pharma:   Sun Pharma, Dr. Reddy's, Cipla, Divi's, Biocon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Energy:   Reliance, ONGC, NTPC, Power Grid, BPCL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7F0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streamlit     — reactive web UI framework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yfinance      — live market data from Yahoo Finance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plotly        — interactive charts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scikit-learn  — Logistic, Ridge, Lasso models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SciPy / statsmodels — statistical tests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pandas / NumPy — data wrangling</a:t>
            </a:r>
          </a:p>
        </p:txBody>
      </p:sp>
      <p:sp>
        <p:nvSpPr>
          <p:cNvPr id="14" name="Rectangle 13">
            <a:hlinkClick action="ppaction://hlinksldjump" r:id="rId2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Architecture &amp;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Modular design: separate files for data, stats, ML, and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12880" cy="420624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14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7F0E"/>
                </a:solidFill>
                <a:latin typeface="Consolas"/>
              </a:defRPr>
            </a:pPr>
            <a:r>
              <a:t>streamlit_app.py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1498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Main dashboard — tabs, charts, sidebar, caching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03327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1F77B4"/>
                </a:solidFill>
                <a:hlinkClick r:id="rId2"/>
              </a:rPr>
              <a:t>📄 Open in 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53896"/>
            <a:ext cx="11612880" cy="420624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7F0E"/>
                </a:solidFill>
                <a:latin typeface="Consolas"/>
              </a:defRPr>
            </a:pPr>
            <a:r>
              <a:t>data_loader.py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08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Data access — price downloads, 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1F77B4"/>
                </a:solidFill>
                <a:hlinkClick r:id="rId3"/>
              </a:rPr>
              <a:t>📄 Open in GitHub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47672"/>
            <a:ext cx="11612880" cy="420624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02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7F0E"/>
                </a:solidFill>
                <a:latin typeface="Consolas"/>
              </a:defRPr>
            </a:pPr>
            <a:r>
              <a:t>abish_stats.py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0025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Statistical tests — CI, MLE, Z-test, t-tests, ANOVA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2082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1F77B4"/>
                </a:solidFill>
                <a:hlinkClick r:id="rId4"/>
              </a:rPr>
              <a:t>📄 Open in GitHub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41448"/>
            <a:ext cx="11612880" cy="420624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96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7F0E"/>
                </a:solidFill>
                <a:latin typeface="Consolas"/>
              </a:defRPr>
            </a:pPr>
            <a:r>
              <a:t>laksh_ml.py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963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ML models — Logistic, Ridge, Lasso training &amp;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1F77B4"/>
                </a:solidFill>
                <a:hlinkClick r:id="rId5"/>
              </a:rPr>
              <a:t>📄 Open in GitHub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35224"/>
            <a:ext cx="11612880" cy="420624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7F0E"/>
                </a:solidFill>
                <a:latin typeface="Consolas"/>
              </a:defRPr>
            </a:pPr>
            <a:r>
              <a:t>requirements.txt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990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Python dependencies (streamlit, yfinance, sklearn 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0837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1F77B4"/>
                </a:solidFill>
                <a:hlinkClick r:id="rId6"/>
              </a:rPr>
              <a:t>📄 Open in GitHub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71323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621024"/>
            <a:ext cx="6903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Caching &amp; Data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13048"/>
            <a:ext cx="7132320" cy="22677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886200"/>
            <a:ext cx="6858000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Cached data loading (lines 75-87)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@st.cache_data(ttl=3600, show_spinner=False)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load_data(ticker1, ticker2, period):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prices1       = get_price_data([ticker1], period)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prices2       = get_price_data([ticker2], period)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sector_rets   = get_sector_returns(period)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df_ml         = engineer_features(ticker1, period)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"prices1": prices1, "prices2": prices2,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"ret1": get_daily_returns(prices1)[ticker1].dropna(),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"ret2": get_daily_returns(prices2)[ticker2].dropna(),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"sector_rets": sector_rets, "df_ml": df_ml,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15391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7"/>
              </a:rPr>
              <a:t>🔗  streamlit_app.py  lines 75-87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611880"/>
            <a:ext cx="42976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362102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Sidebar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813048"/>
            <a:ext cx="4297680" cy="22677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886200"/>
            <a:ext cx="4023360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Sidebar controls (lines 94-102)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with st.sidebar: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primary_sector  = st.selectbox("Primary Sector", list(SECTORS))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ticker1         = st.selectbox("Stock 1", SECTORS[primary_sector])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compare_sector  = st.selectbox("Compare Sector", ...)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ticker2         = st.selectbox("Stock 2", SECTORS[compare_sector])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period          = st.select_slider("Data Period", PERIODS, value="2y")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alpha           = st.slider("Significance Level (α)", 0.01, 0.10, 0.05)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153912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8"/>
              </a:rPr>
              <a:t>🔗  streamlit_app.py  lines 94-102</a:t>
            </a:r>
          </a:p>
        </p:txBody>
      </p:sp>
      <p:sp>
        <p:nvSpPr>
          <p:cNvPr id="35" name="Rectangle 34">
            <a:hlinkClick action="ppaction://hlinksldjump" r:id="rId9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Price Returns &amp;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The mathematical foundations behind the Overview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18288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Daily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Measures the percentage change in stock price from one trading day to the next.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Formula:  rₜ = (Pₜ − Pₜ₋₁) / Pₜ₋₁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 return of +0.01 means the stock gained 1% that day.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Returns are stationary (unlike prices), making them suitable for statistical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80360"/>
            <a:ext cx="5760720" cy="18288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953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Annualised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1927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Scales average daily return to an annual figure.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Formula:  r̄_annual ≈ 252 × r̄_daily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252 = approximate number of trading days in a calendar year.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Provides an intuitive comparison across different holding periods.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Return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The histogram shows how often each return magnitude occurred.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Overlap of two histograms reveals relative volatility and central tendency.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Skewness: asymmetry — positive skew = rare large gains.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Kurtosis: fat tails — extreme moves more common than in a normal distribution.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Finance returns typically show negative skewness and excess kurtosis.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5669280" cy="169164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410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76472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Price history shows the raw trend and entry/exit context.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Returns allow statistical comparison: mean, variance, normality tests.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Distributions reveal tail risk — the probability of extreme losses.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The dashboard uses 2 years (≈ 500 trading days) of data by default.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80974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data_loader.py — Price &amp; Return helpers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01768"/>
            <a:ext cx="576072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074920"/>
            <a:ext cx="548640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data_loader.py — Return calculation (lines 62-67)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get_price_data(tickers, period="2y"):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_extract_field(_download(tickers, period),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          "Close", tickers).dropna(how="all")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get_daily_returns(prices):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prices.pct_change().dropna()   # rₜ = (Pₜ-Pₜ₋₁)/Pₜ₋₁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648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data_loader.py  lines 62-67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0060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80974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Display helpers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001768"/>
            <a:ext cx="566928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074920"/>
            <a:ext cx="539496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Annualised metric (lines 141-144)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avg_return.metric("Avg Daily Return",   pct(ret1.mean(), 3))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annualised.metric("Annualised Return",  pct(ret1.mean() * 252, 1))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pct() helper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pct(value, digits=2):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f"{value * 100:.{digits}f}%"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64648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streamlit_app.py  lines 36-37, 141-144</a:t>
            </a:r>
          </a:p>
        </p:txBody>
      </p:sp>
      <p:sp>
        <p:nvSpPr>
          <p:cNvPr id="27" name="Rectangle 26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1 — Overview: Price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Side-by-side adjusted-close price charts for two selected stocks</a:t>
            </a:r>
          </a:p>
        </p:txBody>
      </p:sp>
      <p:pic>
        <p:nvPicPr>
          <p:cNvPr id="5" name="Picture 4" descr="pri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2560320"/>
          </a:xfrm>
          <a:prstGeom prst="rect">
            <a:avLst/>
          </a:prstGeom>
        </p:spPr>
      </p:pic>
      <p:pic>
        <p:nvPicPr>
          <p:cNvPr id="6" name="Picture 5" descr="pric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76072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3657600"/>
            <a:ext cx="777240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666744"/>
            <a:ext cx="754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Price chart builder &amp; rendering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858768"/>
            <a:ext cx="7772400" cy="2313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931920"/>
            <a:ext cx="7498080" cy="2167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Price chart renderer (lines 47-51)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line_chart(series, title, color):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fig = px.line(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series.rename_axis("Date").reset_index(),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x="Date", y=series.name, title=title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fig.update_traces(line_color=color)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fig.update_layout(height=320, margin=dict(l=10,r=10,t=40,b=10))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fig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Rendering both charts side-by-side (lines 146-148)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left.plotly_chart( line_chart(prices1[ticker1], f"Price — {ticker1}", COLORS["primary"]))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right.plotly_chart(line_chart(prices2[ticker2], f"Price — {ticker2}", COLORS["secondary"]))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24535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streamlit_app.py  lines 47-51, 146-148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Adjusted close price (auto-adjusted for splits &amp; dividends)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@st.cache_data caches the download for 1 hour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Period selector: 6mo / 1y / 2y / 3y / 5y</a:t>
            </a:r>
          </a:p>
          <a:p>
            <a:pPr>
              <a:spcAft>
                <a:spcPts val="523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yfinance downloads from Yahoo Finance in one call</a:t>
            </a:r>
          </a:p>
        </p:txBody>
      </p:sp>
      <p:sp>
        <p:nvSpPr>
          <p:cNvPr id="13" name="Rectangle 12">
            <a:hlinkClick action="ppaction://hlinksldjump" r:id="rId5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1 — Overview: Return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Overlaid histograms showing the distribution of daily returns for both stocks</a:t>
            </a:r>
          </a:p>
        </p:txBody>
      </p:sp>
      <p:pic>
        <p:nvPicPr>
          <p:cNvPr id="5" name="Picture 4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572000"/>
            <a:ext cx="777240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581144"/>
            <a:ext cx="754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Overlaid Histogram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773168"/>
            <a:ext cx="7772400" cy="18105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7498080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Return Distribution histogram (lines 150-167)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dist = pd.concat([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pd.DataFrame({"Return": ret1, "Stock": ticker1}),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pd.DataFrame({"Return": ret2, "Stock": ticker2}),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fig = px.histogram(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dist, x="Return", color="Stock",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nbins=60, barmode="overlay", opacity=0.65,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color_discrete_map={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ticker1: COLORS["primary"],   # blue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ticker2: COLORS["secondary"], # orange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fig.update_layout(height=350)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st.plotly_chart(fig, use_container_width=True)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streamlit_app.py  lines 150-167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914400"/>
            <a:ext cx="365760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987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Reading the Histogram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353312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Width: wider = higher volatility (larger σ)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Centre: the average daily return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Overlap: similar return profiles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Tail weight: fat tails → tail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337560"/>
            <a:ext cx="3657600" cy="16459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410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776472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60 bins give fine-grained shape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Transparency (opacity=0.65) preserves overlap visibility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Blue = Stock 1 (primary selection)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Orange = Stock 2 (comparison)</a:t>
            </a:r>
          </a:p>
        </p:txBody>
      </p:sp>
      <p:sp>
        <p:nvSpPr>
          <p:cNvPr id="17" name="Rectangle 16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Confidence Intervals &amp; Maximum Likelihood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Statistical estimation methods powering the Risk Profile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5603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Confidence Interval for the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Gives a range that plausibly contains the true population mean return.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Formula:  CI = x̄ ± c · SE    where  SE = s / √n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n &gt; 30: Z-distribution used (normal approximation valid).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n ≤ 30: t-distribution used (heavier tails, more conservative).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95% CI means: if we repeated the study many times,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95% of constructed intervals would contain the true mean.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Narrower CI = more data or less volatility.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611880"/>
            <a:ext cx="5760720" cy="246888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685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Maximum Likelihood Estimation (MLE)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50792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Finds the parameter values most consistent with the observed data.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Assumes returns ~ Normal(μ, σ²).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Log-likelihood:  ℓ(μ,σ) = Σ log f(xᵢ | μ, σ)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MLE estimates:   μ̂ = x̄    (sample mean)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                  σ̂ = √(Σ(xᵢ-x̄)²/n)  (biased std dev)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AIC = 4 − 2ℓ  (lower = better fit; penalises extra parameters).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The likelihood surface peaks exactly at the MLE 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1031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Why Both?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CI gives a sampling-variability range around the mean.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MLE gives the best-fit Normal model for the full return distribution.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Together they answer: 'What is the expected return and how uncertain are we?'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The log-likelihood surface shows how sharply the data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identifies the true mean (narrow peak = well-identified).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5468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16382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abish_stats.py — CI &amp; MLE implementation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55848"/>
            <a:ext cx="5669280" cy="2724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29000"/>
            <a:ext cx="5394960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abish_stats.py — Confidence Interval (lines 16-30)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confidence_interval_mean(data, confidence=0.95):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n        = len(data)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mean     = np.mean(data)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se       = stats.sem(data)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Z for large sample, t for small sample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critical = norm.ppf((1+confidence)/2) if n &gt; 30 \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else t_dist.ppf((1+confidence)/2, n-1)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margin   = critical * se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{"mean": mean, "lower": mean-margin,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"upper": mean+margin, "std_error": se,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"method": "Z-interval" if n&gt;30 else "t-interval"}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MLE Normal (lines 33-43)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mle_normal(data):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mu    = np.mean(data)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sigma = np.std(data, ddof=0)    # MLE uses n not n-1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ll    = np.sum(norm.logpdf(data, mu, sigma))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{"mu_mle": mu, "sigma_mle": sigma,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"log_likelihood": ll, "aic": 4-2*ll}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15391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abish_stats.py  lines 16-43</a:t>
            </a:r>
          </a:p>
        </p:txBody>
      </p:sp>
      <p:sp>
        <p:nvSpPr>
          <p:cNvPr id="19" name="Rectangle 18">
            <a:hlinkClick action="ppaction://hlinksldjump" r:id="rId3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2 —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Confidence interval, MLE parameters, and log-likelihood surface</a:t>
            </a:r>
          </a:p>
        </p:txBody>
      </p:sp>
      <p:pic>
        <p:nvPicPr>
          <p:cNvPr id="5" name="Picture 4" descr="likelih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914400"/>
            <a:ext cx="420624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9875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Reading the Likelihood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353312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x-axis: candidate μ values (in %)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y-axis: log-likelihood of the data given μ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Peak (dashed line): MLE estimate μ̂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Wider peak → more uncertainty about true mean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Sharper peak → data is more informative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251960"/>
            <a:ext cx="731520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261104"/>
            <a:ext cx="7086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abish_stats.py + streamlit_app.py — Likelihood computation &amp; rendering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53128"/>
            <a:ext cx="7315200" cy="21305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526280"/>
            <a:ext cx="7040880" cy="1984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abish_stats.py — Likelihood Surface (lines 46-52)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plot_likelihood_surface(data, mu_range=None):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sigma    = np.std(data, ddof=0)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mu       = np.mean(data)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low, high = mu_range or (mu-4*sigma, mu+4*sigma)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mu_grid  = np.linspace(low, high, 300)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log_liks = np.array(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[np.sum(norm.logpdf(data, m, sigma)) for m in mu_grid]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{"mu_grid": mu_grid, "log_likelihoods": log_liks, "mle_mu": mu}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Rendering (lines 208-212)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ll = plot_likelihood_surface(ret1.values)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ll_fig = px.line(x=ll["mu_grid"]*100, y=ll["log_likelihoods"],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 labels={"x":"μ (%)","y":"Log-Likelihood"},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 title="Likelihood Surface")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ll_fig.add_vline(x=ll["mle_mu"]*100, line_dash="dash", line_color=COLORS["secondary"])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st.plotly_chart(ll_fig, use_container_width=True)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64768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abish_stats.py lines 46-52  |  streamlit_app.py lines 208-212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337560"/>
            <a:ext cx="420624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8" y="334670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CI display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538728"/>
            <a:ext cx="4206240" cy="20848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611880"/>
            <a:ext cx="3931920" cy="1938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CI display (lines 188-197)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ci  = confidence_interval_mean(ret1.values, confidence=1-alpha)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mle = mle_normal(ret1.values)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st.metric("Mean Daily Return", pct(ci["mean"], 4))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st.write(f"{int((1-alpha)*100)}% CI: "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f"{pct(ci['lower'],4)} to {pct(ci['upper'],4)}")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st.caption(f"{ci['method']}  |  n = {ci['n']}")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68756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streamlit_app.py  lines 188-197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The statistical framework for testing claims about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196596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Core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H₀ (null):       'nothing interesting happening' — e.g. mean return = 0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H₁ (alternative): the claim we want to establish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p-value: P(observing data this extreme | H₀ is true)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If p-value &lt; α (significance level): reject H₀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α = 0.05 means we tolerate a 5% false-positive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017520"/>
            <a:ext cx="5760720" cy="173736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090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Z-Test (One Sample)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5643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Use when population σ is known (or n is very large).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Statistic:  z = (x̄ − μ₀) / (σ / √n)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Compare |z| to z_critical = z_{α/2} (e.g., 1.96 at 5%)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Reject H₀ if |z| &gt; z_critical  or  p &lt; 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t-Tests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One-Sample: σ unknown, estimate from data;  t = (x̄−μ₀)/(s/√n)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Two-Sample Welch: compare means of TWO stocks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H₀: μ₁ = μ₂;  t = (x̄₁−x̄₂) / √(s₁²/n₁ + s₂²/n₂)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Welch does NOT assume equal variances (safe default).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Paired: compare same stock in two time windows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Forms differences dᵢ = x₁ᵢ − x₂ᵢ;  t = d̄ / (s_d/√n)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9204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90118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abish_stats.py — Z-Test implementation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93208"/>
            <a:ext cx="5760720" cy="15361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166360"/>
            <a:ext cx="548640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abish_stats.py — Z-Test (lines 59-83)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z_test_mean(data, pop_mean, pop_std, alpha=0.05, tail="two"):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sample_mean = np.mean(data)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z_stat = (sample_mean - pop_mean) / (pop_std / np.sqrt(len(data)))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if tail == "two":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p_value    = 2 * (1 - norm.cdf(abs(z_stat)))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z_critical = norm.ppf(1 - alpha/2)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reject = p_value &lt; alpha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{"z_statistic": z_stat, "z_critical": z_critical,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"p_value": p_value, "reject_H0": reject}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70255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abish_stats.py  lines 59-83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34670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abish_stats.py — Two-Sample t-Test implementation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38728"/>
            <a:ext cx="5669280" cy="17190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11880"/>
            <a:ext cx="5394960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abish_stats.py — Two-Sample Welch t-Test (lines 105-122)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t_test_two_sample(data1, data2, label1, label2, alpha=0.05):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t_stat, p_value = ttest_ind(data1, data2, equal_var=False)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reject = p_value &lt; alpha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"test": "Two-Sample Welch's t-Test",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"mean1": np.mean(data1), "mean2": np.mean(data2),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"t_statistic": t_stat, "p_value": p_value,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"reject_H0": reject,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"conclusion": f"{'REJECT' if reject else 'FAIL TO REJECT'} H₀.",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3095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abish_stats.py  lines 105-122</a:t>
            </a:r>
          </a:p>
        </p:txBody>
      </p:sp>
      <p:sp>
        <p:nvSpPr>
          <p:cNvPr id="24" name="Rectangle 23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3 — Hypothesis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Interactive test selector: Z-Test, One-Sample, Two-Sample &amp; Paired t-Tests</a:t>
            </a:r>
          </a:p>
        </p:txBody>
      </p:sp>
      <p:pic>
        <p:nvPicPr>
          <p:cNvPr id="5" name="Picture 4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914400"/>
            <a:ext cx="5120640" cy="192024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Two-Sample t-Test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353312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Box shows median, IQR, whiskers (1.5×IQR), and outliers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Overlapping boxes → means may not differ significantly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Widely separated medians → likely significant difference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p-value &lt; 0.05 → reject H₀ (means are different)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640080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986783"/>
            <a:ext cx="6172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Hypothesis Test rendering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78807"/>
            <a:ext cx="6400800" cy="23591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251959"/>
            <a:ext cx="6126480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Test selector + Two-Sample rendering (lines 218-301)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test = st.radio("Choose a test",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["Z-Test","One-Sample t-Test","Two-Sample t-Test","Paired t-Test"],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horizontal=True)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Two-Sample branch: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result = t_test_two_sample(ret1.values, ret2.values,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            ticker1, ticker2, alpha)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a.metric(f"Mean {ticker1}", pct(result["mean1"], 4))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c.metric("p-value", result["p_value"])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show_result(result, [f"t-Statistic: {result['t_statistic']}"])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Box plot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box = go.Figure()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box.add_trace(go.Box(y=ret1*100, name=ticker1, marker_color=COLORS["primary"]))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box.add_trace(go.Box(y=ret2*100, name=ticker2, marker_color=COLORS["secondary"]))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st.plotly_chart(box, use_container_width=True)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streamlit_app.py  lines 218-301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971800"/>
            <a:ext cx="512064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98094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Result display helper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172968"/>
            <a:ext cx="5120640" cy="1947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246120"/>
            <a:ext cx="4846320" cy="1801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show_result helper (lines 40-44)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show_result(result, details=None):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(st.error if result["reject_H0"]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else st.success)(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"Reject H0" if result["reject_H0"]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else "Fail to reject H0"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for line in details or []: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st.write(line)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st.caption(result["conclusion"])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9379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streamlit_app.py  lines 40-44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One-Way ANOVA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Comparing mean returns across multiple sectors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14884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The Problem ANOVA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We want to test if the 5 sector means are all equal.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Running multiple pairwise t-tests inflates Type-I error (false positive rate).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ANOVA tests ALL groups at once while controlling error at α.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H₀: μ_Banking = μ_IT = μ_FMCG = μ_Pharma = μ_Energy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H₁: At least one sector mean differs from the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00400"/>
            <a:ext cx="576072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73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The F-Statistic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39312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 = MS_between / MS_within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MS_between: variance BETWEEN group means (signal)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MS_within:  variance WITHIN each group (noise)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Large F → means vary more than expected by chance → reject H₀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 follows an F-distribution with df₁=k−1, df₂=N−k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k = number of groups, N = total 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Descriptive Statistics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Mean (%):       average return per sector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Std Dev (%):    volatility — higher = riskier sector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Skewness:       +ve = rare large gains; −ve = rare large losses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Kurtosis:       &gt;0 means fatter tails than Normal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Together they profile each sector's risk-return characteristics.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2064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12978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abish_stats.py — ANOVA implementation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21808"/>
            <a:ext cx="576072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394960"/>
            <a:ext cx="548640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abish_stats.py — One-Way ANOVA (lines 149-162)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from scipy.stats import f_oneway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one_way_anova(*groups, labels=None, alpha=0.05):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f_stat, p_value = f_oneway(*groups)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reject = p_value &lt; alpha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"test":        "One-Way ANOVA",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"f_statistic": round(f_stat,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"p_value":     round(p_value, 6),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"reject_H0":   reject,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"conclusion":  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f"{'REJECT' if reject else 'FAIL TO REJECT'} H₀. "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f"Sector returns {'ARE' if reject else 'ARE NOT'} "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f"significantly different."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8305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abish_stats.py  lines 149-162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34670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data_loader.py — Sector index 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38728"/>
            <a:ext cx="566928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11880"/>
            <a:ext cx="539496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data_loader.py — Sector returns (lines 70-74)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get_sector_returns(period="2y"):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sector: get_daily_returns(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    get_price_data(tickers, period)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    ).mean(axis=1)      # equal-weight sector index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for sector, tickers in SECTORS.items()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5663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data_loader.py  lines 70-74</a:t>
            </a:r>
          </a:p>
        </p:txBody>
      </p:sp>
      <p:sp>
        <p:nvSpPr>
          <p:cNvPr id="24" name="Rectangle 23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4 — Sector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One-Way ANOVA comparing mean daily returns across Banking, IT, FMCG, Pharma, Energy</a:t>
            </a:r>
          </a:p>
        </p:txBody>
      </p:sp>
      <p:pic>
        <p:nvPicPr>
          <p:cNvPr id="5" name="Picture 4" descr="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914400"/>
            <a:ext cx="4572000" cy="18288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9875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Dashboard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353312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F-Statistic and p-value shown as metrics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Green banner = fail to reject H₀ (sectors similar)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Red banner   = reject H₀ (at least one sector different)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Descriptive table: mean, std, skewness, kurtosis per sector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14800"/>
            <a:ext cx="116128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123944"/>
            <a:ext cx="11384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Sector Analysis tab rendering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315968"/>
            <a:ext cx="11612880" cy="22219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389120"/>
            <a:ext cx="1133856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Sector Analysis tab (lines 315-352)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labels = list(sector_rets)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groups = [sector_rets[l].dropna().to_numpy() for l in labels]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result = one_way_anova(*groups, labels=labels, alpha=alpha)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st.metric("F-Statistic", result["f_statistic"])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st.metric("p-value",     result["p_value"])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show_result(result)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Descriptive stats table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stats_df = pd.DataFrame([{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"Sector":       label,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"Mean (%)":     round(group.mean() * 100,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"Std Dev (%)":  round(group.std(ddof=1) * 100,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"Skewness":     round(pd.Series(group).skew(),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"Kurtosis":     round(pd.Series(group).kurtosis(),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"Observations": len(group),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} for label, group in zip(labels, groups)])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st.dataframe(stats_df, use_container_width=True)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streamlit_app.py  lines 315-352</a:t>
            </a:r>
          </a:p>
        </p:txBody>
      </p:sp>
      <p:sp>
        <p:nvSpPr>
          <p:cNvPr id="14" name="Rectangle 13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Logistic Regression for Direction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Binary classification model: will the stock go UP or DOWN tomorrow?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37744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Models P(Y=1 | X) — probability of an UP move given today's features.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Uses the sigmoid function:  P(Y=1|X) = 1 / (1 + e^(−(β₀ + βᵀX)))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The log-odds (logit) is a linear function:  log(p/(1−p)) = β₀ + βᵀX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Prediction: UP if P(Y=1) &gt; 0.5, else DOWN.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Coefficients: positive βᵢ pushes P(UP) higher;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negative βᵢ pushes P(UP) lower.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29000"/>
            <a:ext cx="5760720" cy="25146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502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67912"/>
            <a:ext cx="5486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Accuracy: fraction of correct UP/DOWN calls on test set.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Cross-Validation (TimeSeriesSplit): prevents data leakage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— future data never used to train the model.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Confusion Matrix:  TP (correct UP), TN (correct DOWN),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FP (predicted UP but was DOWN), FN (missed UP move).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class_weight='balanced': corrects for class imbalance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(equal numbers of UP/DOWN training examples).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Feature Importance via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After scaling, coefficients are directly comparable.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Largest |coefficient| → most influential feature.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Blue bars: positive effect (pushes P(UP) up)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Orange bars: negative effect (pushes P(UP) down)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Example: positive lag_1 coefficient means 'if yesterday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was up, tomorrow is more likely up too' (momentum).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34670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— Logistic Regression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38728"/>
            <a:ext cx="5669280" cy="2724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5394960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Logistic model (lines 68-106)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train_logistic_model(df, test_size=0.2, random_state=42):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X, y = df[FEATURE_COLS].values, df["target"].values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X_train, X_test, y_train, y_test = _split_series(X, y, test_size)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model = Pipeline([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("scaler", StandardScaler()),          # z-score normalise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("model", LogisticRegression(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max_iter=1000,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class_weight="balanced",           # handle imbalance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solver="lbfgs",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    random_state=random_state,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)),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model.fit(X_train, y_train)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cv_acc = cross_val_score(model, X, y,      # time-aware CV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cv=TimeSeriesSplit(n_splits=5), scoring="accuracy")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"model": model,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"accuracy": accuracy_score(y_test, model.predict(X_test)),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"cv_accuracy_mean": cv_acc.mean(),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"confusion_matrix": confusion_matrix(y_test, y_pred),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"coef_df": _coef_frame(model.named_steps["model"].coef_[0]),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33679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laksh_ml.py  lines 68-106</a:t>
            </a:r>
          </a:p>
        </p:txBody>
      </p:sp>
      <p:sp>
        <p:nvSpPr>
          <p:cNvPr id="19" name="Rectangle 18">
            <a:hlinkClick action="ppaction://hlinksldjump" r:id="rId3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5 — ML Predictions: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Next-day direction signal, confusion matrix, and feature coefficients</a:t>
            </a:r>
          </a:p>
        </p:txBody>
      </p:sp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4114800" cy="2926080"/>
          </a:xfrm>
          <a:prstGeom prst="rect">
            <a:avLst/>
          </a:prstGeom>
        </p:spPr>
      </p:pic>
      <p:pic>
        <p:nvPicPr>
          <p:cNvPr id="6" name="Picture 5" descr="log_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8680"/>
            <a:ext cx="7406640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3931920"/>
            <a:ext cx="594360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941064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+ streamlit_app.py — Prediction &amp;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4133088"/>
            <a:ext cx="5943600" cy="22677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206240"/>
            <a:ext cx="5669280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Next-day prediction (lines 109-116)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predict_tomorrow(model_result, latest_row):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probs = model_result["model"].predict_proba(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latest_row[FEATURE_COLS].to_numpy().reshape(1,-1)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)[0]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"direction":  "UP" if probs[1] &gt; 0.5 else "DOWN",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"prob_up":    round(probs[1],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"prob_down":  round(probs[0], 4),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"confidence": round(max(probs) * 100, 1),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Metric display (lines 379-383)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a.metric("Signal",     pred["direction"])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b.metric("P(Up)",      f"{pred['prob_up']*100:.1f}%")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c.metric("P(Down)",    f"{pred['prob_down']*100:.1f}%")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d.metric("Confidence", f"{pred['confidence']}%")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laksh_ml.py lines 109-116  |  streamlit_app.py lines 379-383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93192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94106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Confusion matrix rendering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33088"/>
            <a:ext cx="5669280" cy="19019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5394960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Confusion matrix chart (lines 394-403)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cm = px.imshow(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log_res["confusion_matrix"],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x=["Down","Up"], y=["Down","Up"],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labels={"x":"Predicted","y":"Actual","color":"Count"},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text_auto=True,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color_continuous_scale="Blues",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cm.update_layout(height=320)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st.plotly_chart(cm, use_container_width=True)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610819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5"/>
              </a:rPr>
              <a:t>🔗  streamlit_app.py  lines 394-403</a:t>
            </a:r>
          </a:p>
        </p:txBody>
      </p:sp>
      <p:sp>
        <p:nvSpPr>
          <p:cNvPr id="17" name="Rectangle 16">
            <a:hlinkClick action="ppaction://hlinksldjump" r:id="rId6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Feature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12 signals derived from price &amp; volume that feed all three ML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11887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Why Feature Engineering?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Raw closing prices are not stationary and can't feed an ML model directly.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We transform price → return, then extract predictive signals.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Goal: capture momentum, volatility, trend, and volume anomalies.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1323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203704"/>
            <a:ext cx="6903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data_loader.py — engineer_features() — complete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95728"/>
            <a:ext cx="7132320" cy="41422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68580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data_loader.py — Full feature engineering pipeline (lines 89-119)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engineer_features(ticker, period="2y"):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df["return"] = df["close"].pct_change()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① Lag features — yesterday's / 2-days-ago / etc. return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for lag in (1, 2, 3, 5):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df[f"lag_{lag}"] = df["return"].shift(lag)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② Rolling statistics — rolling mean &amp; std over 5-day and 20-day windows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for window in (5, 20):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df[f"rolling_mean_{window}"] = df["return"].rolling(window).mean()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df[f"rolling_std_{window}"]  = df["return"].rolling(window).std()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③ RSI — Relative Strength Index (14-day)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delta = df["close"].diff()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gain  = delta.clip(lower=0).rolling(14).mean()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loss  = (-delta.clip(upper=0)).rolling(14).mean()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df["rsi"] = 100 - (100 / (1 + gain / loss))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④ Volume ratio — today's volume vs 20-day average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df["volume_ratio"] = df["volume"] / df["volume"].rolling(20).mean()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⑤ Distance to moving averages — how far price is from its MA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for window in (20, 50):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ma = df["close"].rolling(window).mean()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df[f"dist_ma{window}"] = (df["close"] - ma) / ma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# ⑥ Target variable — binary: 1 if NEXT DAY return &gt; 0 (UP)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df["target"] = (df["return"].shift(-1) &gt; 0).astype(int)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df.dropna()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data_loader.py  lines 89-119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945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7F0E"/>
                </a:solidFill>
                <a:latin typeface="Calibri"/>
              </a:defRPr>
            </a:pPr>
            <a:r>
              <a:t>Feature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697480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lag_1 … lag_5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697480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Momentum / mean-reversion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054096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rolling_mean_5/20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05409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Short &amp; medium-term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10712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rolling_std_5/20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41071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Volatility regime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67328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rsi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767328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Overbought / oversold (0-100)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123944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volume_ratio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12394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Unusual trading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80560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dist_ma20/50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480560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Deviation from 20/50-day 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37176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FFAA"/>
                </a:solidFill>
                <a:latin typeface="Consolas"/>
              </a:defRPr>
            </a:pPr>
            <a:r>
              <a:t>target (label)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83717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1 = UP next day, 0 = DOWN</a:t>
            </a:r>
          </a:p>
        </p:txBody>
      </p:sp>
      <p:sp>
        <p:nvSpPr>
          <p:cNvPr id="28" name="Rectangle 27">
            <a:hlinkClick action="ppaction://hlinksldjump" r:id="rId3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Theory: Ridge &amp; Lasso Regularisation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Shrinkage methods that prevent overfitting by penalising large coefficients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1031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The Regularisation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OLS regression minimises Σ(yᵢ − ŷᵢ)²  (residual sum of squares).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With many features, OLS overfits the training data.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Regularisation adds a penalty on coefficient size to the loss function.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Effect: coefficients are 'shrunk' toward zero, reducing variance at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the cost of a small increase in bias (bias–variance tradeoff).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154680"/>
            <a:ext cx="5760720" cy="201168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27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Ridge Regression (L2 penalty)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93592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Penalty:  λ Σ βⱼ²  (sum of squared coefficients)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All features retained but shrunk — never exactly zero.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Best when many features each contribute a small effect.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Optimal α found by cross-validated RidgeCV over log-spaced grid.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Higher α → stronger shrinkage → simpler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01168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Lasso Regression (L1 penalty)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Penalty:  λ Σ |βⱼ|  (sum of absolute coefficients)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Can force weak coefficients exactly to zero → feature selection.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Best when only a few features truly matter.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Optimal α found by cross-validated LassoCV.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Higher α → more features zeroed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5669280" cy="219456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36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TimeSeriesSplit 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0215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Standard k-fold CV shuffles data — INVALID for time series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(future data would leak into training).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TimeSeriesSplit expands training window forward in time: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Fold 1: train on [0..n/5], test on [n/5..2n/5]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  Fold k: train on [0..kn/(k+1)], test on next window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Ensures the model is always evaluated on truly unseen future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0352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31266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— Feature list &amp; Ridge 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04688"/>
            <a:ext cx="5760720" cy="13533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577840"/>
            <a:ext cx="548640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shared features &amp; Ridge training (lines 23-36, 123-152)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FEATURE_COLS = ["lag_1","lag_2","lag_3","lag_5",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"rolling_mean_5","rolling_std_5",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"rolling_mean_20","rolling_std_20",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"rsi","volume_ratio","dist_ma20","dist_ma50"]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/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Ridge CV with time-series-safe cross-validation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alphas     = np.logspace(-3, 4, 100)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best_alpha = RidgeCV(alphas=alphas,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cv=TimeSeriesSplit(n_splits=5)).fit(X_train, y_train).alpha_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model      = Ridge(alpha=best_alpha).fit(X_train, y_train)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9220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2"/>
              </a:rPr>
              <a:t>🔗  laksh_ml.py  lines 23-36, 123-152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303520"/>
            <a:ext cx="56692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531266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— Lasso CV training &amp; selection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504688"/>
            <a:ext cx="5669280" cy="13533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577840"/>
            <a:ext cx="539496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Lasso CV training (lines 155-190)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alphas     = np.logspace(-6, 2, 80)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best_alpha = LassoCV(alphas=alphas,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cv=TimeSeriesSplit(n_splits=5),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max_iter=5000).fit(X_train, y_train).alpha_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model      = Lasso(alpha=best_alpha, max_iter=5000).fit(X_train, y_train)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selected   = model.coef_ != 0    # binary mask: which features survived?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69220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laksh_ml.py  lines 155-190</a:t>
            </a:r>
          </a:p>
        </p:txBody>
      </p:sp>
      <p:sp>
        <p:nvSpPr>
          <p:cNvPr id="27" name="Rectangle 26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Tab 6 — Ridge &amp; Lasso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Comparison table, coefficient charts, and regularization path</a:t>
            </a:r>
          </a:p>
        </p:txBody>
      </p:sp>
      <p:pic>
        <p:nvPicPr>
          <p:cNvPr id="5" name="Picture 4" descr="ridge_co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2560320"/>
          </a:xfrm>
          <a:prstGeom prst="rect">
            <a:avLst/>
          </a:prstGeom>
        </p:spPr>
      </p:pic>
      <p:pic>
        <p:nvPicPr>
          <p:cNvPr id="6" name="Picture 5" descr="lasso_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76072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365760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66674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Ridge chart rendering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858768"/>
            <a:ext cx="5760720" cy="1581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931920"/>
            <a:ext cx="5486400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Ridge rendering (lines 436-444)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st.plotly_chart(coef_chart(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ridge_res["coef_df"],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f"Ridge Coefficients (α={ridge_res['best_alpha']})",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f"Coefficient (α={ridge_res['best_alpha']})",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), use_container_width=True)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st.write(f"R²: {ridge_res['r2_score']}")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st.write(f"RMSE: {pct(ridge_res['rmse'], 4)}")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50468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streamlit_app.py  lines 436-444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657600"/>
            <a:ext cx="57607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366674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Lasso chart rendering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58768"/>
            <a:ext cx="5760720" cy="1581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931920"/>
            <a:ext cx="5486400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Lasso rendering (lines 447-455)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st.plotly_chart(coef_chart(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lasso_res["coef_df"],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f"Lasso Coefficients (α={lasso_res['best_alpha']:.5f})",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selected=True,       # grey-out zeroed features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), use_container_width=True)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st.write(f"Selected: {lasso_res['n_selected']}")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st.write(f"Zeroed:   {lasso_res['n_zeroed']}")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st.write(f"Kept: {', '.join(lasso_res['selected_features'])}")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50468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5"/>
              </a:rPr>
              <a:t>🔗  streamlit_app.py  lines 447-455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5669280"/>
            <a:ext cx="117043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5678424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— Model comparison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870448"/>
            <a:ext cx="11704320" cy="7132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943600"/>
            <a:ext cx="11430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Ridge vs Lasso comparison table (lines 197-214)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compare_ridge_lasso(ridge, lasso):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pd.DataFrame({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"Metric":["R² Score","RMSE","Best Alpha","Features Used"],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"Ridge": [ridge["r2_score"], ridge["rmse"], ridge["best_alpha"], 12],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"Lasso": [lasso["r2_score"], lasso["rmse"], lasso["best_alpha"], lasso["n_selected"]],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})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st.dataframe(compare_ridge_lasso(ridge_res, lasso_res), use_container_width=True)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664768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6"/>
              </a:rPr>
              <a:t>🔗  laksh_ml.py  lines 197-214</a:t>
            </a:r>
          </a:p>
        </p:txBody>
      </p:sp>
      <p:sp>
        <p:nvSpPr>
          <p:cNvPr id="22" name="Rectangle 21">
            <a:hlinkClick action="ppaction://hlinksldjump" r:id="rId7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Lasso Regularization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How each feature's coefficient evolves as the penalty strength α increases</a:t>
            </a:r>
          </a:p>
        </p:txBody>
      </p:sp>
      <p:pic>
        <p:nvPicPr>
          <p:cNvPr id="5" name="Picture 4" descr="lasso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41248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61120" y="914400"/>
            <a:ext cx="3017520" cy="292608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987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Reading the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353312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x-axis: log₁₀(α) — increases from left (weak penalty) to right (strong)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y-axis: coefficient value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Each coloured line = one feature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Lines that reach zero early = first eliminated features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Lines surviving at the dashed line = features Lasso selected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Dashed vertical line: the cross-validated optimal 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846320"/>
            <a:ext cx="841248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855464"/>
            <a:ext cx="8183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streamlit_app.py — Lasso path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47488"/>
            <a:ext cx="8412480" cy="16276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120640"/>
            <a:ext cx="8138160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streamlit_app.py — Regularization path chart (lines 457-478)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path = go.Figure()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colors = px.colors.qualitative.Plotly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for i, feature in enumerate(FEATURE_COLS):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path.add_trace(go.Scatter(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x=np.log10(lasso_res["alpha_path"]),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y=lasso_res["coef_path"][:, i],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mode="lines", name=feature,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line=dict(color=colors[i % len(colors)])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))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path.add_vline(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x=np.log10(lasso_res["best_alpha"]),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line_dash="dash", line_color=COLORS["secondary"]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path.update_layout(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title="Regularization Path",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xaxis_title="log10(alpha)",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yaxis_title="Coefficient Value",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st.plotly_chart(path, use_container_width=True)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7391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3"/>
              </a:rPr>
              <a:t>🔗  streamlit_app.py  lines 457-478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4023360"/>
            <a:ext cx="3017520" cy="201168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4032504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8CCFF"/>
                </a:solidFill>
                <a:latin typeface="Consolas"/>
              </a:defRPr>
            </a:pPr>
            <a:r>
              <a:t>laksh_ml.py — path helper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224528"/>
            <a:ext cx="3017520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297680"/>
            <a:ext cx="274320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# laksh_ml.py — coef path helper (lines 60-62)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def _coef_path(model_cls, alphas, X, y, **kwargs):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return np.array([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model_cls(alpha=a, **kwargs).fit(X, y).coef_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    for a in alphas</a:t>
            </a:r>
          </a:p>
          <a:p>
            <a:pPr>
              <a:spcAft>
                <a:spcPts val="50"/>
              </a:spcAft>
              <a:defRPr sz="950">
                <a:solidFill>
                  <a:srgbClr val="E0E0E0"/>
                </a:solidFill>
                <a:latin typeface="Consolas"/>
              </a:defRPr>
            </a:pPr>
            <a:r>
              <a:rPr sz="950">
                <a:solidFill>
                  <a:srgbClr val="CCFFAA"/>
                </a:solidFill>
                <a:latin typeface="Consolas"/>
              </a:rPr>
              <a:t>    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4589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58A6FF"/>
                </a:solidFill>
                <a:latin typeface="Calibri"/>
                <a:hlinkClick r:id="rId4"/>
              </a:rPr>
              <a:t>🔗  laksh_ml.py  lines 60-62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448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77B4"/>
                </a:solidFill>
                <a:latin typeface="Calibri"/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BBBB"/>
                </a:solidFill>
                <a:latin typeface="Calibri"/>
              </a:defRPr>
            </a:pPr>
            <a:r>
              <a:t>What we built and what it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577840" cy="25603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What the Dashboard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1 — Overview:           Price history &amp; return distributions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2 — Risk Profile:       Confidence intervals &amp; MLE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3 — Hypothesis Tests:   Z-Test + three variants of t-Test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4 — Sector Analysis:    One-way ANOVA across 5 sectors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5 — ML Predictions:     Logistic regression direction signal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Tab 6 — Ridge &amp; Lasso:      Regularised return-prediction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914400"/>
            <a:ext cx="6035040" cy="2560320"/>
          </a:xfrm>
          <a:prstGeom prst="rect">
            <a:avLst/>
          </a:prstGeom>
          <a:solidFill>
            <a:srgbClr val="121A28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9875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77B4"/>
                </a:solidFill>
                <a:latin typeface="Calibri"/>
              </a:defRPr>
            </a:pPr>
            <a:r>
              <a:t>📐  Engineering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353312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Modular: UI, data, stats, and ML in separate files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@st.cache_data: 1-hour data caching for responsiveness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TimeSeriesSplit CV: leakage-free model evaluation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Welch's t-test: robust to unequal variances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Balanced class weights: handles UP/DOWN imbalance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Auto-alpha: RidgeCV / LassoCV find optimal λ automatically</a:t>
            </a:r>
          </a:p>
          <a:p>
            <a:pPr>
              <a:spcAft>
                <a:spcPts val="523"/>
              </a:spcAft>
              <a:defRPr sz="1300" b="0">
                <a:solidFill>
                  <a:srgbClr val="DDDDFF"/>
                </a:solidFill>
                <a:latin typeface="Calibri"/>
              </a:defRPr>
            </a:pPr>
            <a:r>
              <a:t>• 12 engineered features: lag, rolling, RSI, volume, MA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3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5 sectors  ·  25 NSE stocks  ·  up to 5 years of data  ·  no local install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u="sng" b="1">
                <a:solidFill>
                  <a:srgbClr val="1F77B4"/>
                </a:solidFill>
                <a:hlinkClick r:id="rId2"/>
              </a:rPr>
              <a:t>🌐  Live Streamlit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u="sng" b="1">
                <a:solidFill>
                  <a:srgbClr val="1F77B4"/>
                </a:solidFill>
                <a:hlinkClick r:id="rId3"/>
              </a:rPr>
              <a:t>📦  Source Code on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5" name="Rectangle 14">
            <a:hlinkClick action="ppaction://hlinksldjump" r:id="rId4"/>
          </p:cNvPr>
          <p:cNvSpPr/>
          <p:nvPr/>
        </p:nvSpPr>
        <p:spPr>
          <a:xfrm>
            <a:off x="10454335" y="6446520"/>
            <a:ext cx="1600200" cy="320040"/>
          </a:xfrm>
          <a:prstGeom prst="rect">
            <a:avLst/>
          </a:prstGeom>
          <a:solidFill>
            <a:srgbClr val="3A1C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⬅  Contents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