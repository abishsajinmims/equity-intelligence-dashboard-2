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quity-intelligence-dashboard-2-takthjuvpv7gfysstzxdub.streamlit.app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bishSajiNMIMS/Equity-Intelligence-Dashboard-2/blob/main/streamlit_app.py" TargetMode="External"/><Relationship Id="rId3" Type="http://schemas.openxmlformats.org/officeDocument/2006/relationships/hyperlink" Target="https://github.com/AbishSajiNMIMS/Equity-Intelligence-Dashboard-2/blob/main/data_loader.py" TargetMode="External"/><Relationship Id="rId4" Type="http://schemas.openxmlformats.org/officeDocument/2006/relationships/hyperlink" Target="https://github.com/AbishSajiNMIMS/Equity-Intelligence-Dashboard-2/blob/main/abish_stats.py" TargetMode="External"/><Relationship Id="rId5" Type="http://schemas.openxmlformats.org/officeDocument/2006/relationships/hyperlink" Target="https://github.com/AbishSajiNMIMS/Equity-Intelligence-Dashboard-2/blob/main/laksh_ml.py" TargetMode="External"/><Relationship Id="rId6" Type="http://schemas.openxmlformats.org/officeDocument/2006/relationships/hyperlink" Target="https://github.com/AbishSajiNMIMS/Equity-Intelligence-Dashboard-2/blob/main/requirements.txt" TargetMode="External"/><Relationship Id="rId7" Type="http://schemas.openxmlformats.org/officeDocument/2006/relationships/hyperlink" Target="https://github.com/AbishSajiNMIMS/Equity-Intelligence-Dashboard-2/blob/main/streamlit_app.py#L75-L87" TargetMode="External"/><Relationship Id="rId8" Type="http://schemas.openxmlformats.org/officeDocument/2006/relationships/hyperlink" Target="https://github.com/AbishSajiNMIMS/Equity-Intelligence-Dashboard-2/blob/main/streamlit_app.py#L94-L102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hyperlink" Target="https://github.com/AbishSajiNMIMS/Equity-Intelligence-Dashboard-2/blob/main/streamlit_app.py#L128-L148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hyperlink" Target="https://github.com/AbishSajiNMIMS/Equity-Intelligence-Dashboard-2/blob/main/streamlit_app.py#L150-L167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hyperlink" Target="https://github.com/AbishSajiNMIMS/Equity-Intelligence-Dashboard-2/blob/main/abish_stats.py#L16-L52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hyperlink" Target="https://github.com/AbishSajiNMIMS/Equity-Intelligence-Dashboard-2/blob/main/abish_stats.py#L59-L142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hyperlink" Target="https://github.com/AbishSajiNMIMS/Equity-Intelligence-Dashboard-2/blob/main/abish_stats.py#L149-L162" TargetMode="External"/><Relationship Id="rId4" Type="http://schemas.openxmlformats.org/officeDocument/2006/relationships/hyperlink" Target="https://github.com/AbishSajiNMIMS/Equity-Intelligence-Dashboard-2/blob/main/data_loader.py#L15-L21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hyperlink" Target="https://github.com/AbishSajiNMIMS/Equity-Intelligence-Dashboard-2/blob/main/laksh_ml.py#L68-L116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bishSajiNMIMS/Equity-Intelligence-Dashboard-2/blob/main/data_loader.py#L89-L119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hyperlink" Target="https://github.com/AbishSajiNMIMS/Equity-Intelligence-Dashboard-2/blob/main/laksh_ml.py#L123-L152" TargetMode="External"/><Relationship Id="rId5" Type="http://schemas.openxmlformats.org/officeDocument/2006/relationships/hyperlink" Target="https://github.com/AbishSajiNMIMS/Equity-Intelligence-Dashboard-2/blob/main/laksh_ml.py#L155-L190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hyperlink" Target="https://github.com/AbishSajiNMIMS/Equity-Intelligence-Dashboard-2/blob/main/laksh_ml.py#L197-L214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quity-intelligence-dashboard-2-takthjuvpv7gfysstzxdub.streamlit.app" TargetMode="External"/><Relationship Id="rId3" Type="http://schemas.openxmlformats.org/officeDocument/2006/relationships/hyperlink" Target="https://github.com/AbishSajiNMIMS/Equity-Intelligence-Dashboard-2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94960" y="914400"/>
            <a:ext cx="1828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0" b="0">
                <a:solidFill>
                  <a:srgbClr val="FFFFFF"/>
                </a:solidFill>
                <a:latin typeface="Calibri"/>
              </a:defRPr>
            </a:pPr>
            <a:r>
              <a:t>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01168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Equity Intelligence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3017520"/>
            <a:ext cx="8503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BBBBBB"/>
                </a:solidFill>
                <a:latin typeface="Calibri"/>
              </a:defRPr>
            </a:pPr>
            <a:r>
              <a:t>A Statistical &amp; Machine Learning Dashboard for Indian Equity Markets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3749039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1F77B4"/>
                </a:solidFill>
                <a:latin typeface="Calibri"/>
              </a:defRPr>
            </a:pPr>
            <a:r>
              <a:t>Built with Streamlit · Python · Plotly · scikit-learn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475488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BBBBBB"/>
                </a:solidFill>
                <a:latin typeface="Calibri"/>
              </a:defRPr>
            </a:pPr>
            <a:r>
              <a:t>AbishSajiNMIMS/Equity-Intelligence-Dashboard-2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5303520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u="sng">
                <a:solidFill>
                  <a:srgbClr val="1F77B4"/>
                </a:solidFill>
                <a:hlinkClick r:id="rId2"/>
              </a:rPr>
              <a:t>🔗  View Live Dashboard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F77B4"/>
                </a:solidFill>
                <a:latin typeface="Calibri"/>
              </a:defRPr>
            </a:pPr>
            <a:r>
              <a:t>Project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5486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68"/>
              </a:spcAft>
              <a:defRPr sz="1600" b="0">
                <a:solidFill>
                  <a:srgbClr val="FFFFFF"/>
                </a:solidFill>
                <a:latin typeface="Calibri"/>
              </a:defRPr>
            </a:pPr>
            <a:r>
              <a:t>The Equity Intelligence Dashboard is an interactive Streamlit application</a:t>
            </a:r>
          </a:p>
          <a:p>
            <a:pPr>
              <a:spcAft>
                <a:spcPts val="768"/>
              </a:spcAft>
              <a:defRPr sz="1600" b="0">
                <a:solidFill>
                  <a:srgbClr val="FFFFFF"/>
                </a:solidFill>
                <a:latin typeface="Calibri"/>
              </a:defRPr>
            </a:pPr>
            <a:r>
              <a:t>for analysing Indian NSE-listed stocks across five major sectors.</a:t>
            </a:r>
          </a:p>
          <a:p>
            <a:pPr>
              <a:spcAft>
                <a:spcPts val="768"/>
              </a:spcAft>
              <a:defRPr sz="1600" b="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768"/>
              </a:spcAft>
              <a:defRPr sz="1600" b="0">
                <a:solidFill>
                  <a:srgbClr val="FFFFFF"/>
                </a:solidFill>
                <a:latin typeface="Calibri"/>
              </a:defRPr>
            </a:pPr>
            <a:r>
              <a:t>It combines descriptive statistics, inferential tests, and machine-learning</a:t>
            </a:r>
          </a:p>
          <a:p>
            <a:pPr>
              <a:spcAft>
                <a:spcPts val="768"/>
              </a:spcAft>
              <a:defRPr sz="1600" b="0">
                <a:solidFill>
                  <a:srgbClr val="FFFFFF"/>
                </a:solidFill>
                <a:latin typeface="Calibri"/>
              </a:defRPr>
            </a:pPr>
            <a:r>
              <a:t>models into a single live dashboard that updates from Yahoo Finance data.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7F0E"/>
                </a:solidFill>
                <a:latin typeface="Calibri"/>
              </a:defRPr>
            </a:pPr>
            <a:r>
              <a:t>Key Capabilities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749039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72"/>
              </a:spcAft>
              <a:defRPr sz="1400" b="0">
                <a:solidFill>
                  <a:srgbClr val="FFFFFF"/>
                </a:solidFill>
                <a:latin typeface="Calibri"/>
              </a:defRPr>
            </a:pPr>
            <a:r>
              <a:t>• Price history &amp; return distributions for any two stocks</a:t>
            </a:r>
          </a:p>
          <a:p>
            <a:pPr>
              <a:spcAft>
                <a:spcPts val="672"/>
              </a:spcAft>
              <a:defRPr sz="1400" b="0">
                <a:solidFill>
                  <a:srgbClr val="FFFFFF"/>
                </a:solidFill>
                <a:latin typeface="Calibri"/>
              </a:defRPr>
            </a:pPr>
            <a:r>
              <a:t>• Confidence intervals and Maximum Likelihood Estimation</a:t>
            </a:r>
          </a:p>
          <a:p>
            <a:pPr>
              <a:spcAft>
                <a:spcPts val="672"/>
              </a:spcAft>
              <a:defRPr sz="1400" b="0">
                <a:solidFill>
                  <a:srgbClr val="FFFFFF"/>
                </a:solidFill>
                <a:latin typeface="Calibri"/>
              </a:defRPr>
            </a:pPr>
            <a:r>
              <a:t>• Z-Test, t-Tests (one-sample, two-sample, paired)</a:t>
            </a:r>
          </a:p>
          <a:p>
            <a:pPr>
              <a:spcAft>
                <a:spcPts val="672"/>
              </a:spcAft>
              <a:defRPr sz="1400" b="0">
                <a:solidFill>
                  <a:srgbClr val="FFFFFF"/>
                </a:solidFill>
                <a:latin typeface="Calibri"/>
              </a:defRPr>
            </a:pPr>
            <a:r>
              <a:t>• One-Way ANOVA for cross-sector comparison</a:t>
            </a:r>
          </a:p>
          <a:p>
            <a:pPr>
              <a:spcAft>
                <a:spcPts val="672"/>
              </a:spcAft>
              <a:defRPr sz="1400" b="0">
                <a:solidFill>
                  <a:srgbClr val="FFFFFF"/>
                </a:solidFill>
                <a:latin typeface="Calibri"/>
              </a:defRPr>
            </a:pPr>
            <a:r>
              <a:t>• Logistic Regression for next-day direction prediction</a:t>
            </a:r>
          </a:p>
          <a:p>
            <a:pPr>
              <a:spcAft>
                <a:spcPts val="672"/>
              </a:spcAft>
              <a:defRPr sz="1400" b="0">
                <a:solidFill>
                  <a:srgbClr val="FFFFFF"/>
                </a:solidFill>
                <a:latin typeface="Calibri"/>
              </a:defRPr>
            </a:pPr>
            <a:r>
              <a:t>• Ridge &amp; Lasso regularized regression with path visualization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0" y="10972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7F0E"/>
                </a:solidFill>
                <a:latin typeface="Calibri"/>
              </a:defRPr>
            </a:pPr>
            <a:r>
              <a:t>Sectors Covered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164592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24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• Banking — HDFC Bank, ICICI, Kotak, Axis, SBI</a:t>
            </a:r>
          </a:p>
          <a:p>
            <a:pPr>
              <a:spcAft>
                <a:spcPts val="624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• IT — TCS, Infosys, Wipro, HCL Tech, Tech Mahindra</a:t>
            </a:r>
          </a:p>
          <a:p>
            <a:pPr>
              <a:spcAft>
                <a:spcPts val="624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• FMCG — Hindustan Unilever, Nestle, Britannia, Dabur, Marico</a:t>
            </a:r>
          </a:p>
          <a:p>
            <a:pPr>
              <a:spcAft>
                <a:spcPts val="624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• Pharma — Sun Pharma, Dr. Reddy's, Cipla, Divi's Lab, Biocon</a:t>
            </a:r>
          </a:p>
          <a:p>
            <a:pPr>
              <a:spcAft>
                <a:spcPts val="624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• Energy — Reliance, ONGC, NTPC, Power Grid, BPCL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36576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7F0E"/>
                </a:solidFill>
                <a:latin typeface="Calibri"/>
              </a:defRPr>
            </a:pPr>
            <a:r>
              <a:t>Tech Stack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420624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24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• Streamlit — interactive web framework</a:t>
            </a:r>
          </a:p>
          <a:p>
            <a:pPr>
              <a:spcAft>
                <a:spcPts val="624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• yfinance — live market data from Yahoo Finance</a:t>
            </a:r>
          </a:p>
          <a:p>
            <a:pPr>
              <a:spcAft>
                <a:spcPts val="624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• Plotly — interactive charts and visualisations</a:t>
            </a:r>
          </a:p>
          <a:p>
            <a:pPr>
              <a:spcAft>
                <a:spcPts val="624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• scikit-learn — ML models (Logistic, Ridge, Lasso)</a:t>
            </a:r>
          </a:p>
          <a:p>
            <a:pPr>
              <a:spcAft>
                <a:spcPts val="624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• SciPy / statsmodels — statistical tests</a:t>
            </a:r>
          </a:p>
          <a:p>
            <a:pPr>
              <a:spcAft>
                <a:spcPts val="624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• pandas / NumPy — data processing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F77B4"/>
                </a:solidFill>
                <a:latin typeface="Calibri"/>
              </a:defRPr>
            </a:pPr>
            <a:r>
              <a:t>Architecture &amp; File Structure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7F0E"/>
                </a:solidFill>
                <a:latin typeface="Calibri"/>
              </a:defRPr>
            </a:pPr>
            <a:r>
              <a:t>streamlit_app.py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0" y="11887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Main dashboard — UI, tabs, charts, and layout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207008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u="sng">
                <a:solidFill>
                  <a:srgbClr val="1F77B4"/>
                </a:solidFill>
                <a:hlinkClick r:id="rId2"/>
              </a:rPr>
              <a:t>🔗 streamlit_app.py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7F0E"/>
                </a:solidFill>
                <a:latin typeface="Calibri"/>
              </a:defRPr>
            </a:pPr>
            <a:r>
              <a:t>data_loader.py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169164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Data access — downloads prices, computes returns, engineers features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1709928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u="sng">
                <a:solidFill>
                  <a:srgbClr val="1F77B4"/>
                </a:solidFill>
                <a:hlinkClick r:id="rId3"/>
              </a:rPr>
              <a:t>🔗 data_loader.py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94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7F0E"/>
                </a:solidFill>
                <a:latin typeface="Calibri"/>
              </a:defRPr>
            </a:pPr>
            <a:r>
              <a:t>abish_stats.py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0" y="219456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Statistical tests — CI, MLE, Z-test, t-tests, ANOVA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2212848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u="sng">
                <a:solidFill>
                  <a:srgbClr val="1F77B4"/>
                </a:solidFill>
                <a:hlinkClick r:id="rId4"/>
              </a:rPr>
              <a:t>🔗 abish_stats.py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6974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7F0E"/>
                </a:solidFill>
                <a:latin typeface="Calibri"/>
              </a:defRPr>
            </a:pPr>
            <a:r>
              <a:t>laksh_ml.py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26974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ML models — Logistic, Ridge, Lasso training &amp; comparison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0" y="2715768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u="sng">
                <a:solidFill>
                  <a:srgbClr val="1F77B4"/>
                </a:solidFill>
                <a:hlinkClick r:id="rId5"/>
              </a:rPr>
              <a:t>🔗 laksh_ml.py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2004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7F0E"/>
                </a:solidFill>
                <a:latin typeface="Calibri"/>
              </a:defRPr>
            </a:pPr>
            <a:r>
              <a:t>requirements.txt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720" y="32004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Python dependencies for deployment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0" y="3218688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u="sng">
                <a:solidFill>
                  <a:srgbClr val="1F77B4"/>
                </a:solidFill>
                <a:hlinkClick r:id="rId6"/>
              </a:rPr>
              <a:t>🔗 requirements.txt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39319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7F0E"/>
                </a:solidFill>
                <a:latin typeface="Calibri"/>
              </a:defRPr>
            </a:pPr>
            <a:r>
              <a:t>Data Flow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480560"/>
            <a:ext cx="5943600" cy="210312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572000"/>
            <a:ext cx="56692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000">
                <a:solidFill>
                  <a:srgbClr val="A6E22E"/>
                </a:solidFill>
                <a:latin typeface="Consolas"/>
              </a:defRPr>
            </a:pPr>
            <a:r>
              <a:t># streamlit_app.py — cached data loading</a:t>
            </a:r>
          </a:p>
          <a:p>
            <a:pPr>
              <a:spcAft>
                <a:spcPts val="100"/>
              </a:spcAft>
              <a:defRPr sz="1000">
                <a:solidFill>
                  <a:srgbClr val="A6E22E"/>
                </a:solidFill>
                <a:latin typeface="Consolas"/>
              </a:defRPr>
            </a:pPr>
            <a:r>
              <a:t>@st.cache_data(ttl=3600, show_spinner=False)</a:t>
            </a:r>
          </a:p>
          <a:p>
            <a:pPr>
              <a:spcAft>
                <a:spcPts val="100"/>
              </a:spcAft>
              <a:defRPr sz="1000">
                <a:solidFill>
                  <a:srgbClr val="A6E22E"/>
                </a:solidFill>
                <a:latin typeface="Consolas"/>
              </a:defRPr>
            </a:pPr>
            <a:r>
              <a:t>def load_data(ticker1, ticker2, period):</a:t>
            </a:r>
          </a:p>
          <a:p>
            <a:pPr>
              <a:spcAft>
                <a:spcPts val="100"/>
              </a:spcAft>
              <a:defRPr sz="1000">
                <a:solidFill>
                  <a:srgbClr val="A6E22E"/>
                </a:solidFill>
                <a:latin typeface="Consolas"/>
              </a:defRPr>
            </a:pPr>
            <a:r>
              <a:t>    prices1 = get_price_data([ticker1], period)</a:t>
            </a:r>
          </a:p>
          <a:p>
            <a:pPr>
              <a:spcAft>
                <a:spcPts val="100"/>
              </a:spcAft>
              <a:defRPr sz="1000">
                <a:solidFill>
                  <a:srgbClr val="A6E22E"/>
                </a:solidFill>
                <a:latin typeface="Consolas"/>
              </a:defRPr>
            </a:pPr>
            <a:r>
              <a:t>    prices2 = get_price_data([ticker2], period)</a:t>
            </a:r>
          </a:p>
          <a:p>
            <a:pPr>
              <a:spcAft>
                <a:spcPts val="100"/>
              </a:spcAft>
              <a:defRPr sz="1000">
                <a:solidFill>
                  <a:srgbClr val="A6E22E"/>
                </a:solidFill>
                <a:latin typeface="Consolas"/>
              </a:defRPr>
            </a:pPr>
            <a:r>
              <a:t>    return {</a:t>
            </a:r>
          </a:p>
          <a:p>
            <a:pPr>
              <a:spcAft>
                <a:spcPts val="100"/>
              </a:spcAft>
              <a:defRPr sz="1000">
                <a:solidFill>
                  <a:srgbClr val="A6E22E"/>
                </a:solidFill>
                <a:latin typeface="Consolas"/>
              </a:defRPr>
            </a:pPr>
            <a:r>
              <a:t>        "prices1": prices1, "prices2": prices2,</a:t>
            </a:r>
          </a:p>
          <a:p>
            <a:pPr>
              <a:spcAft>
                <a:spcPts val="100"/>
              </a:spcAft>
              <a:defRPr sz="1000">
                <a:solidFill>
                  <a:srgbClr val="A6E22E"/>
                </a:solidFill>
                <a:latin typeface="Consolas"/>
              </a:defRPr>
            </a:pPr>
            <a:r>
              <a:t>        "ret1": get_daily_returns(prices1)[ticker1].dropna(),</a:t>
            </a:r>
          </a:p>
          <a:p>
            <a:pPr>
              <a:spcAft>
                <a:spcPts val="100"/>
              </a:spcAft>
              <a:defRPr sz="1000">
                <a:solidFill>
                  <a:srgbClr val="A6E22E"/>
                </a:solidFill>
                <a:latin typeface="Consolas"/>
              </a:defRPr>
            </a:pPr>
            <a:r>
              <a:t>        "ret2": get_daily_returns(prices2)[ticker2].dropna(),</a:t>
            </a:r>
          </a:p>
          <a:p>
            <a:pPr>
              <a:spcAft>
                <a:spcPts val="100"/>
              </a:spcAft>
              <a:defRPr sz="1000">
                <a:solidFill>
                  <a:srgbClr val="A6E22E"/>
                </a:solidFill>
                <a:latin typeface="Consolas"/>
              </a:defRPr>
            </a:pPr>
            <a:r>
              <a:t>        "sector_rets": get_sector_returns(period),</a:t>
            </a:r>
          </a:p>
          <a:p>
            <a:pPr>
              <a:spcAft>
                <a:spcPts val="100"/>
              </a:spcAft>
              <a:defRPr sz="1000">
                <a:solidFill>
                  <a:srgbClr val="A6E22E"/>
                </a:solidFill>
                <a:latin typeface="Consolas"/>
              </a:defRPr>
            </a:pPr>
            <a:r>
              <a:t>        "info1": get_stock_info(ticker1),</a:t>
            </a:r>
          </a:p>
          <a:p>
            <a:pPr>
              <a:spcAft>
                <a:spcPts val="100"/>
              </a:spcAft>
              <a:defRPr sz="1000">
                <a:solidFill>
                  <a:srgbClr val="A6E22E"/>
                </a:solidFill>
                <a:latin typeface="Consolas"/>
              </a:defRPr>
            </a:pPr>
            <a:r>
              <a:t>        "df_ml": engineer_features(ticker1, period),</a:t>
            </a:r>
          </a:p>
          <a:p>
            <a:pPr>
              <a:spcAft>
                <a:spcPts val="100"/>
              </a:spcAft>
              <a:defRPr sz="1000">
                <a:solidFill>
                  <a:srgbClr val="A6E22E"/>
                </a:solidFill>
                <a:latin typeface="Consolas"/>
              </a:defRPr>
            </a:pPr>
            <a:r>
              <a:t>    }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53796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u="sng">
                <a:solidFill>
                  <a:srgbClr val="1F77B4"/>
                </a:solidFill>
                <a:hlinkClick r:id="rId7"/>
              </a:rPr>
              <a:t>📄 Source: streamlit_app.py (lines 75-87)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39319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7F0E"/>
                </a:solidFill>
                <a:latin typeface="Calibri"/>
              </a:defRPr>
            </a:pPr>
            <a:r>
              <a:t>Sidebar Controls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0" y="4480560"/>
            <a:ext cx="4846320" cy="210312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95160" y="4572000"/>
            <a:ext cx="45720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000">
                <a:solidFill>
                  <a:srgbClr val="A6E22E"/>
                </a:solidFill>
                <a:latin typeface="Consolas"/>
              </a:defRPr>
            </a:pPr>
            <a:r>
              <a:t># Sidebar inputs</a:t>
            </a:r>
          </a:p>
          <a:p>
            <a:pPr>
              <a:spcAft>
                <a:spcPts val="100"/>
              </a:spcAft>
              <a:defRPr sz="1000">
                <a:solidFill>
                  <a:srgbClr val="A6E22E"/>
                </a:solidFill>
                <a:latin typeface="Consolas"/>
              </a:defRPr>
            </a:pPr>
            <a:r>
              <a:t>with st.sidebar:</a:t>
            </a:r>
          </a:p>
          <a:p>
            <a:pPr>
              <a:spcAft>
                <a:spcPts val="100"/>
              </a:spcAft>
              <a:defRPr sz="1000">
                <a:solidFill>
                  <a:srgbClr val="A6E22E"/>
                </a:solidFill>
                <a:latin typeface="Consolas"/>
              </a:defRPr>
            </a:pPr>
            <a:r>
              <a:t>    st.title("Equity Intelligence")</a:t>
            </a:r>
          </a:p>
          <a:p>
            <a:pPr>
              <a:spcAft>
                <a:spcPts val="100"/>
              </a:spcAft>
              <a:defRPr sz="1000">
                <a:solidFill>
                  <a:srgbClr val="A6E22E"/>
                </a:solidFill>
                <a:latin typeface="Consolas"/>
              </a:defRPr>
            </a:pPr>
            <a:r>
              <a:t>    primary_sector = st.selectbox("Primary Sector", list(SECTORS))</a:t>
            </a:r>
          </a:p>
          <a:p>
            <a:pPr>
              <a:spcAft>
                <a:spcPts val="100"/>
              </a:spcAft>
              <a:defRPr sz="1000">
                <a:solidFill>
                  <a:srgbClr val="A6E22E"/>
                </a:solidFill>
                <a:latin typeface="Consolas"/>
              </a:defRPr>
            </a:pPr>
            <a:r>
              <a:t>    ticker1 = st.selectbox("Stock 1", SECTORS[primary_sector])</a:t>
            </a:r>
          </a:p>
          <a:p>
            <a:pPr>
              <a:spcAft>
                <a:spcPts val="100"/>
              </a:spcAft>
              <a:defRPr sz="1000">
                <a:solidFill>
                  <a:srgbClr val="A6E22E"/>
                </a:solidFill>
                <a:latin typeface="Consolas"/>
              </a:defRPr>
            </a:pPr>
            <a:r>
              <a:t>    compare_sector = st.selectbox("Compare Sector", ...)</a:t>
            </a:r>
          </a:p>
          <a:p>
            <a:pPr>
              <a:spcAft>
                <a:spcPts val="100"/>
              </a:spcAft>
              <a:defRPr sz="1000">
                <a:solidFill>
                  <a:srgbClr val="A6E22E"/>
                </a:solidFill>
                <a:latin typeface="Consolas"/>
              </a:defRPr>
            </a:pPr>
            <a:r>
              <a:t>    ticker2 = st.selectbox("Stock 2", SECTORS[compare_sector])</a:t>
            </a:r>
          </a:p>
          <a:p>
            <a:pPr>
              <a:spcAft>
                <a:spcPts val="100"/>
              </a:spcAft>
              <a:defRPr sz="1000">
                <a:solidFill>
                  <a:srgbClr val="A6E22E"/>
                </a:solidFill>
                <a:latin typeface="Consolas"/>
              </a:defRPr>
            </a:pPr>
            <a:r>
              <a:t>    period = st.select_slider("Data Period", PERIODS, value="2y")</a:t>
            </a:r>
          </a:p>
          <a:p>
            <a:pPr>
              <a:spcAft>
                <a:spcPts val="100"/>
              </a:spcAft>
              <a:defRPr sz="1000">
                <a:solidFill>
                  <a:srgbClr val="A6E22E"/>
                </a:solidFill>
                <a:latin typeface="Consolas"/>
              </a:defRPr>
            </a:pPr>
            <a:r>
              <a:t>    alpha = st.slider("Significance Level (α)", 0.01, 0.10, 0.05)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0" y="653796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u="sng">
                <a:solidFill>
                  <a:srgbClr val="1F77B4"/>
                </a:solidFill>
                <a:hlinkClick r:id="rId8"/>
              </a:rPr>
              <a:t>📄 Source: streamlit_app.py (lines 94-102)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F77B4"/>
                </a:solidFill>
                <a:latin typeface="Calibri"/>
              </a:defRPr>
            </a:pPr>
            <a:r>
              <a:t>Tab 1: Overview — Price History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BBBBB"/>
                </a:solidFill>
                <a:latin typeface="Calibri"/>
              </a:defRPr>
            </a:pPr>
            <a:r>
              <a:t>Displays side-by-side price charts for the two selected stocks and key metrics.</a:t>
            </a:r>
          </a:p>
        </p:txBody>
      </p:sp>
      <p:pic>
        <p:nvPicPr>
          <p:cNvPr id="4" name="Picture 3" descr="overview_pric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0"/>
            <a:ext cx="5760720" cy="2560320"/>
          </a:xfrm>
          <a:prstGeom prst="rect">
            <a:avLst/>
          </a:prstGeom>
        </p:spPr>
      </p:pic>
      <p:pic>
        <p:nvPicPr>
          <p:cNvPr id="5" name="Picture 4" descr="overview_pric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371600"/>
            <a:ext cx="5760720" cy="25603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274320" y="4114800"/>
            <a:ext cx="6400800" cy="22860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4206240"/>
            <a:ext cx="61264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000">
                <a:solidFill>
                  <a:srgbClr val="A6E22E"/>
                </a:solidFill>
                <a:latin typeface="Consolas"/>
              </a:defRPr>
            </a:pPr>
            <a:r>
              <a:t># Overview metrics and price charts</a:t>
            </a:r>
          </a:p>
          <a:p>
            <a:pPr>
              <a:spcAft>
                <a:spcPts val="100"/>
              </a:spcAft>
              <a:defRPr sz="1000">
                <a:solidFill>
                  <a:srgbClr val="A6E22E"/>
                </a:solidFill>
                <a:latin typeface="Consolas"/>
              </a:defRPr>
            </a:pPr>
            <a:r>
              <a:t>company.metric("Company", info1.get("name", ticker1)[:24])</a:t>
            </a:r>
          </a:p>
          <a:p>
            <a:pPr>
              <a:spcAft>
                <a:spcPts val="100"/>
              </a:spcAft>
              <a:defRPr sz="1000">
                <a:solidFill>
                  <a:srgbClr val="A6E22E"/>
                </a:solidFill>
                <a:latin typeface="Consolas"/>
              </a:defRPr>
            </a:pPr>
            <a:r>
              <a:t>avg_return.metric("Avg Daily Return", pct(ret1.mean(), 3))</a:t>
            </a:r>
          </a:p>
          <a:p>
            <a:pPr>
              <a:spcAft>
                <a:spcPts val="100"/>
              </a:spcAft>
              <a:defRPr sz="1000">
                <a:solidFill>
                  <a:srgbClr val="A6E22E"/>
                </a:solidFill>
                <a:latin typeface="Consolas"/>
              </a:defRPr>
            </a:pPr>
            <a:r>
              <a:t>annualised.metric("Annualised Return", pct(ret1.mean() * 252, 1))</a:t>
            </a:r>
          </a:p>
          <a:p>
            <a:pPr>
              <a:spcAft>
                <a:spcPts val="100"/>
              </a:spcAft>
              <a:defRPr sz="1000">
                <a:solidFill>
                  <a:srgbClr val="A6E22E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000">
                <a:solidFill>
                  <a:srgbClr val="A6E22E"/>
                </a:solidFill>
                <a:latin typeface="Consolas"/>
              </a:defRPr>
            </a:pPr>
            <a:r>
              <a:t>left.plotly_chart(line_chart(prices1[ticker1],</a:t>
            </a:r>
          </a:p>
          <a:p>
            <a:pPr>
              <a:spcAft>
                <a:spcPts val="100"/>
              </a:spcAft>
              <a:defRPr sz="1000">
                <a:solidFill>
                  <a:srgbClr val="A6E22E"/>
                </a:solidFill>
                <a:latin typeface="Consolas"/>
              </a:defRPr>
            </a:pPr>
            <a:r>
              <a:t>    f"Price History — {ticker1}", COLORS["primary"]))</a:t>
            </a:r>
          </a:p>
          <a:p>
            <a:pPr>
              <a:spcAft>
                <a:spcPts val="100"/>
              </a:spcAft>
              <a:defRPr sz="1000">
                <a:solidFill>
                  <a:srgbClr val="A6E22E"/>
                </a:solidFill>
                <a:latin typeface="Consolas"/>
              </a:defRPr>
            </a:pPr>
            <a:r>
              <a:t>right.plotly_chart(line_chart(prices2[ticker2],</a:t>
            </a:r>
          </a:p>
          <a:p>
            <a:pPr>
              <a:spcAft>
                <a:spcPts val="100"/>
              </a:spcAft>
              <a:defRPr sz="1000">
                <a:solidFill>
                  <a:srgbClr val="A6E22E"/>
                </a:solidFill>
                <a:latin typeface="Consolas"/>
              </a:defRPr>
            </a:pPr>
            <a:r>
              <a:t>    f"Price History — {ticker2}", COLORS["secondary"]))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4922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u="sng">
                <a:solidFill>
                  <a:srgbClr val="1F77B4"/>
                </a:solidFill>
                <a:hlinkClick r:id="rId4"/>
              </a:rPr>
              <a:t>📄 Source: streamlit_app.py (lines 128-148)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4114800"/>
            <a:ext cx="4572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24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• Uses @st.cache_data for responsive loading</a:t>
            </a:r>
          </a:p>
          <a:p>
            <a:pPr>
              <a:spcAft>
                <a:spcPts val="624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• yfinance downloads adjusted close prices</a:t>
            </a:r>
          </a:p>
          <a:p>
            <a:pPr>
              <a:spcAft>
                <a:spcPts val="624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• Daily returns computed via pct_change()</a:t>
            </a:r>
          </a:p>
          <a:p>
            <a:pPr>
              <a:spcAft>
                <a:spcPts val="624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• Annualised return ≈ 252 × daily mean</a:t>
            </a:r>
          </a:p>
          <a:p>
            <a:pPr>
              <a:spcAft>
                <a:spcPts val="624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• Plotly line charts with distinct colours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F77B4"/>
                </a:solidFill>
                <a:latin typeface="Calibri"/>
              </a:defRPr>
            </a:pPr>
            <a:r>
              <a:t>Tab 1: Overview — Return Distribution</a:t>
            </a:r>
          </a:p>
        </p:txBody>
      </p:sp>
      <p:pic>
        <p:nvPicPr>
          <p:cNvPr id="3" name="Picture 2" descr="overview_histo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7315200" cy="34747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0" y="10972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7F0E"/>
                </a:solidFill>
                <a:latin typeface="Calibri"/>
              </a:defRPr>
            </a:pPr>
            <a:r>
              <a:t>Key Formulas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0"/>
            <a:ext cx="3657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24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Daily Return:</a:t>
            </a:r>
          </a:p>
          <a:p>
            <a:pPr>
              <a:spcAft>
                <a:spcPts val="624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   rₜ = (Pₜ − Pₜ₋₁) / Pₜ₋₁</a:t>
            </a:r>
          </a:p>
          <a:p>
            <a:pPr>
              <a:spcAft>
                <a:spcPts val="624"/>
              </a:spcAft>
              <a:defRPr sz="1300" b="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624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Annualised Return:</a:t>
            </a:r>
          </a:p>
          <a:p>
            <a:pPr>
              <a:spcAft>
                <a:spcPts val="624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   r̄_annual ≈ 252 × r̄_daily</a:t>
            </a:r>
          </a:p>
          <a:p>
            <a:pPr>
              <a:spcAft>
                <a:spcPts val="624"/>
              </a:spcAft>
              <a:defRPr sz="1300" b="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624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Overlaid histograms compare spread,</a:t>
            </a:r>
          </a:p>
          <a:p>
            <a:pPr>
              <a:spcAft>
                <a:spcPts val="624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skewness, and tail behaviour of</a:t>
            </a:r>
          </a:p>
          <a:p>
            <a:pPr>
              <a:spcAft>
                <a:spcPts val="624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the two selected stocks.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4754880"/>
            <a:ext cx="6400800" cy="18288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4846320"/>
            <a:ext cx="6126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000">
                <a:solidFill>
                  <a:srgbClr val="A6E22E"/>
                </a:solidFill>
                <a:latin typeface="Consolas"/>
              </a:defRPr>
            </a:pPr>
            <a:r>
              <a:t># Return Distribution Comparison</a:t>
            </a:r>
          </a:p>
          <a:p>
            <a:pPr>
              <a:spcAft>
                <a:spcPts val="100"/>
              </a:spcAft>
              <a:defRPr sz="1000">
                <a:solidFill>
                  <a:srgbClr val="A6E22E"/>
                </a:solidFill>
                <a:latin typeface="Consolas"/>
              </a:defRPr>
            </a:pPr>
            <a:r>
              <a:t>dist = pd.concat([</a:t>
            </a:r>
          </a:p>
          <a:p>
            <a:pPr>
              <a:spcAft>
                <a:spcPts val="100"/>
              </a:spcAft>
              <a:defRPr sz="1000">
                <a:solidFill>
                  <a:srgbClr val="A6E22E"/>
                </a:solidFill>
                <a:latin typeface="Consolas"/>
              </a:defRPr>
            </a:pPr>
            <a:r>
              <a:t>    pd.DataFrame({"Return": ret1, "Stock": ticker1}),</a:t>
            </a:r>
          </a:p>
          <a:p>
            <a:pPr>
              <a:spcAft>
                <a:spcPts val="100"/>
              </a:spcAft>
              <a:defRPr sz="1000">
                <a:solidFill>
                  <a:srgbClr val="A6E22E"/>
                </a:solidFill>
                <a:latin typeface="Consolas"/>
              </a:defRPr>
            </a:pPr>
            <a:r>
              <a:t>    pd.DataFrame({"Return": ret2, "Stock": ticker2}),</a:t>
            </a:r>
          </a:p>
          <a:p>
            <a:pPr>
              <a:spcAft>
                <a:spcPts val="100"/>
              </a:spcAft>
              <a:defRPr sz="1000">
                <a:solidFill>
                  <a:srgbClr val="A6E22E"/>
                </a:solidFill>
                <a:latin typeface="Consolas"/>
              </a:defRPr>
            </a:pPr>
            <a:r>
              <a:t>])</a:t>
            </a:r>
          </a:p>
          <a:p>
            <a:pPr>
              <a:spcAft>
                <a:spcPts val="100"/>
              </a:spcAft>
              <a:defRPr sz="1000">
                <a:solidFill>
                  <a:srgbClr val="A6E22E"/>
                </a:solidFill>
                <a:latin typeface="Consolas"/>
              </a:defRPr>
            </a:pPr>
            <a:r>
              <a:t>fig = px.histogram(dist, x="Return", color="Stock",</a:t>
            </a:r>
          </a:p>
          <a:p>
            <a:pPr>
              <a:spcAft>
                <a:spcPts val="100"/>
              </a:spcAft>
              <a:defRPr sz="1000">
                <a:solidFill>
                  <a:srgbClr val="A6E22E"/>
                </a:solidFill>
                <a:latin typeface="Consolas"/>
              </a:defRPr>
            </a:pPr>
            <a:r>
              <a:t>    nbins=60, barmode="overlay", opacity=0.65,</a:t>
            </a:r>
          </a:p>
          <a:p>
            <a:pPr>
              <a:spcAft>
                <a:spcPts val="100"/>
              </a:spcAft>
              <a:defRPr sz="1000">
                <a:solidFill>
                  <a:srgbClr val="A6E22E"/>
                </a:solidFill>
                <a:latin typeface="Consolas"/>
              </a:defRPr>
            </a:pPr>
            <a:r>
              <a:t>    color_discrete_map={</a:t>
            </a:r>
          </a:p>
          <a:p>
            <a:pPr>
              <a:spcAft>
                <a:spcPts val="100"/>
              </a:spcAft>
              <a:defRPr sz="1000">
                <a:solidFill>
                  <a:srgbClr val="A6E22E"/>
                </a:solidFill>
                <a:latin typeface="Consolas"/>
              </a:defRPr>
            </a:pPr>
            <a:r>
              <a:t>        ticker1: COLORS["primary"],</a:t>
            </a:r>
          </a:p>
          <a:p>
            <a:pPr>
              <a:spcAft>
                <a:spcPts val="100"/>
              </a:spcAft>
              <a:defRPr sz="1000">
                <a:solidFill>
                  <a:srgbClr val="A6E22E"/>
                </a:solidFill>
                <a:latin typeface="Consolas"/>
              </a:defRPr>
            </a:pPr>
            <a:r>
              <a:t>        ticker2: COLORS["secondary"]})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3796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u="sng">
                <a:solidFill>
                  <a:srgbClr val="1F77B4"/>
                </a:solidFill>
                <a:hlinkClick r:id="rId3"/>
              </a:rPr>
              <a:t>📄 Source: streamlit_app.py (lines 150-167)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F77B4"/>
                </a:solidFill>
                <a:latin typeface="Calibri"/>
              </a:defRPr>
            </a:pPr>
            <a:r>
              <a:t>Tab 2: Risk Profile — Confidence Interval &amp; MLE</a:t>
            </a:r>
          </a:p>
        </p:txBody>
      </p:sp>
      <p:pic>
        <p:nvPicPr>
          <p:cNvPr id="3" name="Picture 2" descr="risk_likeliho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7315200" cy="32004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046720" y="10972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7F0E"/>
                </a:solidFill>
                <a:latin typeface="Calibri"/>
              </a:defRPr>
            </a:pPr>
            <a:r>
              <a:t>Estimation Methods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1645920"/>
            <a:ext cx="3657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24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Confidence Interval:</a:t>
            </a:r>
          </a:p>
          <a:p>
            <a:pPr>
              <a:spcAft>
                <a:spcPts val="624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  CI = x̄ ± c · SE</a:t>
            </a:r>
          </a:p>
          <a:p>
            <a:pPr>
              <a:spcAft>
                <a:spcPts val="624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  SE = s / √n</a:t>
            </a:r>
          </a:p>
          <a:p>
            <a:pPr>
              <a:spcAft>
                <a:spcPts val="624"/>
              </a:spcAft>
              <a:defRPr sz="1300" b="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624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MLE (Normal model):</a:t>
            </a:r>
          </a:p>
          <a:p>
            <a:pPr>
              <a:spcAft>
                <a:spcPts val="624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  μ̂ = x̄</a:t>
            </a:r>
          </a:p>
          <a:p>
            <a:pPr>
              <a:spcAft>
                <a:spcPts val="624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  σ̂ = √(Σ(xᵢ−x̄)² / n)</a:t>
            </a:r>
          </a:p>
          <a:p>
            <a:pPr>
              <a:spcAft>
                <a:spcPts val="624"/>
              </a:spcAft>
              <a:defRPr sz="1300" b="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624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Log-Likelihood &amp; AIC shown</a:t>
            </a:r>
          </a:p>
          <a:p>
            <a:pPr>
              <a:spcAft>
                <a:spcPts val="624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for model fit quality.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4480560"/>
            <a:ext cx="7315200" cy="219456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4572000"/>
            <a:ext cx="7040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900">
                <a:solidFill>
                  <a:srgbClr val="A6E22E"/>
                </a:solidFill>
                <a:latin typeface="Consolas"/>
              </a:defRPr>
            </a:pPr>
            <a:r>
              <a:t># abish_stats.py — Confidence Interval</a:t>
            </a:r>
          </a:p>
          <a:p>
            <a:pPr>
              <a:spcAft>
                <a:spcPts val="100"/>
              </a:spcAft>
              <a:defRPr sz="900">
                <a:solidFill>
                  <a:srgbClr val="A6E22E"/>
                </a:solidFill>
                <a:latin typeface="Consolas"/>
              </a:defRPr>
            </a:pPr>
            <a:r>
              <a:t>def confidence_interval_mean(data, confidence=0.95):</a:t>
            </a:r>
          </a:p>
          <a:p>
            <a:pPr>
              <a:spcAft>
                <a:spcPts val="100"/>
              </a:spcAft>
              <a:defRPr sz="900">
                <a:solidFill>
                  <a:srgbClr val="A6E22E"/>
                </a:solidFill>
                <a:latin typeface="Consolas"/>
              </a:defRPr>
            </a:pPr>
            <a:r>
              <a:t>    n = len(data)</a:t>
            </a:r>
          </a:p>
          <a:p>
            <a:pPr>
              <a:spcAft>
                <a:spcPts val="100"/>
              </a:spcAft>
              <a:defRPr sz="900">
                <a:solidFill>
                  <a:srgbClr val="A6E22E"/>
                </a:solidFill>
                <a:latin typeface="Consolas"/>
              </a:defRPr>
            </a:pPr>
            <a:r>
              <a:t>    mean = np.mean(data)</a:t>
            </a:r>
          </a:p>
          <a:p>
            <a:pPr>
              <a:spcAft>
                <a:spcPts val="100"/>
              </a:spcAft>
              <a:defRPr sz="900">
                <a:solidFill>
                  <a:srgbClr val="A6E22E"/>
                </a:solidFill>
                <a:latin typeface="Consolas"/>
              </a:defRPr>
            </a:pPr>
            <a:r>
              <a:t>    se = stats.sem(data)</a:t>
            </a:r>
          </a:p>
          <a:p>
            <a:pPr>
              <a:spcAft>
                <a:spcPts val="100"/>
              </a:spcAft>
              <a:defRPr sz="900">
                <a:solidFill>
                  <a:srgbClr val="A6E22E"/>
                </a:solidFill>
                <a:latin typeface="Consolas"/>
              </a:defRPr>
            </a:pPr>
            <a:r>
              <a:t>    critical = norm.ppf((1+confidence)/2) if n &gt; 30 \</a:t>
            </a:r>
          </a:p>
          <a:p>
            <a:pPr>
              <a:spcAft>
                <a:spcPts val="100"/>
              </a:spcAft>
              <a:defRPr sz="900">
                <a:solidFill>
                  <a:srgbClr val="A6E22E"/>
                </a:solidFill>
                <a:latin typeface="Consolas"/>
              </a:defRPr>
            </a:pPr>
            <a:r>
              <a:t>               else t_dist.ppf((1+confidence)/2, n-1)</a:t>
            </a:r>
          </a:p>
          <a:p>
            <a:pPr>
              <a:spcAft>
                <a:spcPts val="100"/>
              </a:spcAft>
              <a:defRPr sz="900">
                <a:solidFill>
                  <a:srgbClr val="A6E22E"/>
                </a:solidFill>
                <a:latin typeface="Consolas"/>
              </a:defRPr>
            </a:pPr>
            <a:r>
              <a:t>    margin = critical * se</a:t>
            </a:r>
          </a:p>
          <a:p>
            <a:pPr>
              <a:spcAft>
                <a:spcPts val="100"/>
              </a:spcAft>
              <a:defRPr sz="900">
                <a:solidFill>
                  <a:srgbClr val="A6E22E"/>
                </a:solidFill>
                <a:latin typeface="Consolas"/>
              </a:defRPr>
            </a:pPr>
            <a:r>
              <a:t>    return {"mean": mean, "lower": mean-margin,</a:t>
            </a:r>
          </a:p>
          <a:p>
            <a:pPr>
              <a:spcAft>
                <a:spcPts val="100"/>
              </a:spcAft>
              <a:defRPr sz="900">
                <a:solidFill>
                  <a:srgbClr val="A6E22E"/>
                </a:solidFill>
                <a:latin typeface="Consolas"/>
              </a:defRPr>
            </a:pPr>
            <a:r>
              <a:t>            "upper": mean+margin, "std_error": se, ...}</a:t>
            </a:r>
          </a:p>
          <a:p>
            <a:pPr>
              <a:spcAft>
                <a:spcPts val="100"/>
              </a:spcAft>
              <a:defRPr sz="900">
                <a:solidFill>
                  <a:srgbClr val="A6E22E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900">
                <a:solidFill>
                  <a:srgbClr val="A6E22E"/>
                </a:solidFill>
                <a:latin typeface="Consolas"/>
              </a:defRPr>
            </a:pPr>
            <a:r>
              <a:t># MLE Normal</a:t>
            </a:r>
          </a:p>
          <a:p>
            <a:pPr>
              <a:spcAft>
                <a:spcPts val="100"/>
              </a:spcAft>
              <a:defRPr sz="900">
                <a:solidFill>
                  <a:srgbClr val="A6E22E"/>
                </a:solidFill>
                <a:latin typeface="Consolas"/>
              </a:defRPr>
            </a:pPr>
            <a:r>
              <a:t>def mle_normal(data):</a:t>
            </a:r>
          </a:p>
          <a:p>
            <a:pPr>
              <a:spcAft>
                <a:spcPts val="100"/>
              </a:spcAft>
              <a:defRPr sz="900">
                <a:solidFill>
                  <a:srgbClr val="A6E22E"/>
                </a:solidFill>
                <a:latin typeface="Consolas"/>
              </a:defRPr>
            </a:pPr>
            <a:r>
              <a:t>    mu = np.mean(data)</a:t>
            </a:r>
          </a:p>
          <a:p>
            <a:pPr>
              <a:spcAft>
                <a:spcPts val="100"/>
              </a:spcAft>
              <a:defRPr sz="900">
                <a:solidFill>
                  <a:srgbClr val="A6E22E"/>
                </a:solidFill>
                <a:latin typeface="Consolas"/>
              </a:defRPr>
            </a:pPr>
            <a:r>
              <a:t>    sigma = np.std(data, ddof=0)</a:t>
            </a:r>
          </a:p>
          <a:p>
            <a:pPr>
              <a:spcAft>
                <a:spcPts val="100"/>
              </a:spcAft>
              <a:defRPr sz="900">
                <a:solidFill>
                  <a:srgbClr val="A6E22E"/>
                </a:solidFill>
                <a:latin typeface="Consolas"/>
              </a:defRPr>
            </a:pPr>
            <a:r>
              <a:t>    ll = np.sum(norm.logpdf(data, mu, sigma))</a:t>
            </a:r>
          </a:p>
          <a:p>
            <a:pPr>
              <a:spcAft>
                <a:spcPts val="100"/>
              </a:spcAft>
              <a:defRPr sz="900">
                <a:solidFill>
                  <a:srgbClr val="A6E22E"/>
                </a:solidFill>
                <a:latin typeface="Consolas"/>
              </a:defRPr>
            </a:pPr>
            <a:r>
              <a:t>    return {"mu_mle": mu, "sigma_mle": sigma,</a:t>
            </a:r>
          </a:p>
          <a:p>
            <a:pPr>
              <a:spcAft>
                <a:spcPts val="100"/>
              </a:spcAft>
              <a:defRPr sz="900">
                <a:solidFill>
                  <a:srgbClr val="A6E22E"/>
                </a:solidFill>
                <a:latin typeface="Consolas"/>
              </a:defRPr>
            </a:pPr>
            <a:r>
              <a:t>            "log_likelihood": ll, "aic": 4-2*ll, ...}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53796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u="sng">
                <a:solidFill>
                  <a:srgbClr val="1F77B4"/>
                </a:solidFill>
                <a:hlinkClick r:id="rId3"/>
              </a:rPr>
              <a:t>📄 Source: abish_stats.py (lines 16-52)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F77B4"/>
                </a:solidFill>
                <a:latin typeface="Calibri"/>
              </a:defRPr>
            </a:pPr>
            <a:r>
              <a:t>Tab 3: Hypothesis Tests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7F0E"/>
                </a:solidFill>
                <a:latin typeface="Calibri"/>
              </a:defRPr>
            </a:pPr>
            <a:r>
              <a:t>Available Tests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72"/>
              </a:spcAft>
              <a:defRPr sz="1400" b="0">
                <a:solidFill>
                  <a:srgbClr val="FFFFFF"/>
                </a:solidFill>
                <a:latin typeface="Calibri"/>
              </a:defRPr>
            </a:pPr>
            <a:r>
              <a:t>• Z-Test (One Sample) — known population σ</a:t>
            </a:r>
          </a:p>
          <a:p>
            <a:pPr>
              <a:spcAft>
                <a:spcPts val="672"/>
              </a:spcAft>
              <a:defRPr sz="1400" b="0">
                <a:solidFill>
                  <a:srgbClr val="FFFFFF"/>
                </a:solidFill>
                <a:latin typeface="Calibri"/>
              </a:defRPr>
            </a:pPr>
            <a:r>
              <a:t>• One-Sample t-Test — unknown σ, small samples</a:t>
            </a:r>
          </a:p>
          <a:p>
            <a:pPr>
              <a:spcAft>
                <a:spcPts val="672"/>
              </a:spcAft>
              <a:defRPr sz="1400" b="0">
                <a:solidFill>
                  <a:srgbClr val="FFFFFF"/>
                </a:solidFill>
                <a:latin typeface="Calibri"/>
              </a:defRPr>
            </a:pPr>
            <a:r>
              <a:t>• Two-Sample Welch's t-Test — compare two stocks</a:t>
            </a:r>
          </a:p>
          <a:p>
            <a:pPr>
              <a:spcAft>
                <a:spcPts val="672"/>
              </a:spcAft>
              <a:defRPr sz="1400" b="0">
                <a:solidFill>
                  <a:srgbClr val="FFFFFF"/>
                </a:solidFill>
                <a:latin typeface="Calibri"/>
              </a:defRPr>
            </a:pPr>
            <a:r>
              <a:t>• Paired t-Test — first-half vs second-half returns</a:t>
            </a:r>
          </a:p>
        </p:txBody>
      </p:sp>
      <p:pic>
        <p:nvPicPr>
          <p:cNvPr id="5" name="Picture 4" descr="hypothesis_box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005840"/>
            <a:ext cx="5943600" cy="27432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274320" y="4023360"/>
            <a:ext cx="7315200" cy="22860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4114800"/>
            <a:ext cx="70408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000">
                <a:solidFill>
                  <a:srgbClr val="A6E22E"/>
                </a:solidFill>
                <a:latin typeface="Consolas"/>
              </a:defRPr>
            </a:pPr>
            <a:r>
              <a:t># abish_stats.py — Z-Test</a:t>
            </a:r>
          </a:p>
          <a:p>
            <a:pPr>
              <a:spcAft>
                <a:spcPts val="100"/>
              </a:spcAft>
              <a:defRPr sz="1000">
                <a:solidFill>
                  <a:srgbClr val="A6E22E"/>
                </a:solidFill>
                <a:latin typeface="Consolas"/>
              </a:defRPr>
            </a:pPr>
            <a:r>
              <a:t>def z_test_mean(data, pop_mean, pop_std, alpha=0.05, tail="two"):</a:t>
            </a:r>
          </a:p>
          <a:p>
            <a:pPr>
              <a:spcAft>
                <a:spcPts val="100"/>
              </a:spcAft>
              <a:defRPr sz="1000">
                <a:solidFill>
                  <a:srgbClr val="A6E22E"/>
                </a:solidFill>
                <a:latin typeface="Consolas"/>
              </a:defRPr>
            </a:pPr>
            <a:r>
              <a:t>    sample_mean = np.mean(data)</a:t>
            </a:r>
          </a:p>
          <a:p>
            <a:pPr>
              <a:spcAft>
                <a:spcPts val="100"/>
              </a:spcAft>
              <a:defRPr sz="1000">
                <a:solidFill>
                  <a:srgbClr val="A6E22E"/>
                </a:solidFill>
                <a:latin typeface="Consolas"/>
              </a:defRPr>
            </a:pPr>
            <a:r>
              <a:t>    z_stat = (sample_mean - pop_mean) / (pop_std / np.sqrt(len(data)))</a:t>
            </a:r>
          </a:p>
          <a:p>
            <a:pPr>
              <a:spcAft>
                <a:spcPts val="100"/>
              </a:spcAft>
              <a:defRPr sz="1000">
                <a:solidFill>
                  <a:srgbClr val="A6E22E"/>
                </a:solidFill>
                <a:latin typeface="Consolas"/>
              </a:defRPr>
            </a:pPr>
            <a:r>
              <a:t>    p_value = 2 * (1 - norm.cdf(abs(z_stat)))  # two-tailed</a:t>
            </a:r>
          </a:p>
          <a:p>
            <a:pPr>
              <a:spcAft>
                <a:spcPts val="100"/>
              </a:spcAft>
              <a:defRPr sz="1000">
                <a:solidFill>
                  <a:srgbClr val="A6E22E"/>
                </a:solidFill>
                <a:latin typeface="Consolas"/>
              </a:defRPr>
            </a:pPr>
            <a:r>
              <a:t>    reject = p_value &lt; alpha</a:t>
            </a:r>
          </a:p>
          <a:p>
            <a:pPr>
              <a:spcAft>
                <a:spcPts val="100"/>
              </a:spcAft>
              <a:defRPr sz="1000">
                <a:solidFill>
                  <a:srgbClr val="A6E22E"/>
                </a:solidFill>
                <a:latin typeface="Consolas"/>
              </a:defRPr>
            </a:pPr>
            <a:r>
              <a:t>    return {"z_statistic": z_stat, "p_value": p_value,</a:t>
            </a:r>
          </a:p>
          <a:p>
            <a:pPr>
              <a:spcAft>
                <a:spcPts val="100"/>
              </a:spcAft>
              <a:defRPr sz="1000">
                <a:solidFill>
                  <a:srgbClr val="A6E22E"/>
                </a:solidFill>
                <a:latin typeface="Consolas"/>
              </a:defRPr>
            </a:pPr>
            <a:r>
              <a:t>            "reject_H0": reject, "conclusion": ...}</a:t>
            </a:r>
          </a:p>
          <a:p>
            <a:pPr>
              <a:spcAft>
                <a:spcPts val="100"/>
              </a:spcAft>
              <a:defRPr sz="1000">
                <a:solidFill>
                  <a:srgbClr val="A6E22E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000">
                <a:solidFill>
                  <a:srgbClr val="A6E22E"/>
                </a:solidFill>
                <a:latin typeface="Consolas"/>
              </a:defRPr>
            </a:pPr>
            <a:r>
              <a:t># Two-Sample Welch's t-Test</a:t>
            </a:r>
          </a:p>
          <a:p>
            <a:pPr>
              <a:spcAft>
                <a:spcPts val="100"/>
              </a:spcAft>
              <a:defRPr sz="1000">
                <a:solidFill>
                  <a:srgbClr val="A6E22E"/>
                </a:solidFill>
                <a:latin typeface="Consolas"/>
              </a:defRPr>
            </a:pPr>
            <a:r>
              <a:t>def t_test_two_sample(data1, data2, label1, label2, alpha=0.05):</a:t>
            </a:r>
          </a:p>
          <a:p>
            <a:pPr>
              <a:spcAft>
                <a:spcPts val="100"/>
              </a:spcAft>
              <a:defRPr sz="1000">
                <a:solidFill>
                  <a:srgbClr val="A6E22E"/>
                </a:solidFill>
                <a:latin typeface="Consolas"/>
              </a:defRPr>
            </a:pPr>
            <a:r>
              <a:t>    t_stat, p_value = ttest_ind(data1, data2, equal_var=False)</a:t>
            </a:r>
          </a:p>
          <a:p>
            <a:pPr>
              <a:spcAft>
                <a:spcPts val="100"/>
              </a:spcAft>
              <a:defRPr sz="1000">
                <a:solidFill>
                  <a:srgbClr val="A6E22E"/>
                </a:solidFill>
                <a:latin typeface="Consolas"/>
              </a:defRPr>
            </a:pPr>
            <a:r>
              <a:t>    return {"t_statistic": t_stat, "p_value": p_value, ...}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44652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u="sng">
                <a:solidFill>
                  <a:srgbClr val="1F77B4"/>
                </a:solidFill>
                <a:hlinkClick r:id="rId3"/>
              </a:rPr>
              <a:t>📄 Source: abish_stats.py (lines 59-142)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4023360"/>
            <a:ext cx="3657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24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Each test returns:</a:t>
            </a:r>
          </a:p>
          <a:p>
            <a:pPr>
              <a:spcAft>
                <a:spcPts val="624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  • Test statistic &amp; critical value</a:t>
            </a:r>
          </a:p>
          <a:p>
            <a:pPr>
              <a:spcAft>
                <a:spcPts val="624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  • p-value</a:t>
            </a:r>
          </a:p>
          <a:p>
            <a:pPr>
              <a:spcAft>
                <a:spcPts val="624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  • Reject / Fail to reject decision</a:t>
            </a:r>
          </a:p>
          <a:p>
            <a:pPr>
              <a:spcAft>
                <a:spcPts val="624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  • Plain-English conclusion</a:t>
            </a:r>
          </a:p>
          <a:p>
            <a:pPr>
              <a:spcAft>
                <a:spcPts val="624"/>
              </a:spcAft>
              <a:defRPr sz="1300" b="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624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Interactive radio selector</a:t>
            </a:r>
          </a:p>
          <a:p>
            <a:pPr>
              <a:spcAft>
                <a:spcPts val="624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switches between test types.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F77B4"/>
                </a:solidFill>
                <a:latin typeface="Calibri"/>
              </a:defRPr>
            </a:pPr>
            <a:r>
              <a:t>Tab 4: Sector Analysis — ANOVA</a:t>
            </a:r>
          </a:p>
        </p:txBody>
      </p:sp>
      <p:pic>
        <p:nvPicPr>
          <p:cNvPr id="3" name="Picture 2" descr="sector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858000" cy="3017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589520" y="109728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7F0E"/>
                </a:solidFill>
                <a:latin typeface="Calibri"/>
              </a:defRPr>
            </a:pPr>
            <a:r>
              <a:t>One-Way ANOVA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1645920"/>
            <a:ext cx="41148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24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Tests if mean returns across</a:t>
            </a:r>
          </a:p>
          <a:p>
            <a:pPr>
              <a:spcAft>
                <a:spcPts val="624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all 5 sectors are equal:</a:t>
            </a:r>
          </a:p>
          <a:p>
            <a:pPr>
              <a:spcAft>
                <a:spcPts val="624"/>
              </a:spcAft>
              <a:defRPr sz="1300" b="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624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H₀: μ₁ = μ₂ = … = μ₅</a:t>
            </a:r>
          </a:p>
          <a:p>
            <a:pPr>
              <a:spcAft>
                <a:spcPts val="624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F = MS_between / MS_within</a:t>
            </a:r>
          </a:p>
          <a:p>
            <a:pPr>
              <a:spcAft>
                <a:spcPts val="624"/>
              </a:spcAft>
              <a:defRPr sz="1300" b="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624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If p-value &lt; α, at least one sector</a:t>
            </a:r>
          </a:p>
          <a:p>
            <a:pPr>
              <a:spcAft>
                <a:spcPts val="624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mean differs significantly.</a:t>
            </a:r>
          </a:p>
          <a:p>
            <a:pPr>
              <a:spcAft>
                <a:spcPts val="624"/>
              </a:spcAft>
              <a:defRPr sz="1300" b="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624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Descriptive stats table shows:</a:t>
            </a:r>
          </a:p>
          <a:p>
            <a:pPr>
              <a:spcAft>
                <a:spcPts val="624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Mean, Std Dev, Skewness, Kurtosis</a:t>
            </a:r>
          </a:p>
          <a:p>
            <a:pPr>
              <a:spcAft>
                <a:spcPts val="624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for each sector.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4297680"/>
            <a:ext cx="6400800" cy="201168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4389120"/>
            <a:ext cx="6126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000">
                <a:solidFill>
                  <a:srgbClr val="A6E22E"/>
                </a:solidFill>
                <a:latin typeface="Consolas"/>
              </a:defRPr>
            </a:pPr>
            <a:r>
              <a:t># abish_stats.py — ANOVA</a:t>
            </a:r>
          </a:p>
          <a:p>
            <a:pPr>
              <a:spcAft>
                <a:spcPts val="100"/>
              </a:spcAft>
              <a:defRPr sz="1000">
                <a:solidFill>
                  <a:srgbClr val="A6E22E"/>
                </a:solidFill>
                <a:latin typeface="Consolas"/>
              </a:defRPr>
            </a:pPr>
            <a:r>
              <a:t>def one_way_anova(*groups, labels=None, alpha=0.05):</a:t>
            </a:r>
          </a:p>
          <a:p>
            <a:pPr>
              <a:spcAft>
                <a:spcPts val="100"/>
              </a:spcAft>
              <a:defRPr sz="1000">
                <a:solidFill>
                  <a:srgbClr val="A6E22E"/>
                </a:solidFill>
                <a:latin typeface="Consolas"/>
              </a:defRPr>
            </a:pPr>
            <a:r>
              <a:t>    f_stat, p_value = f_oneway(*groups)</a:t>
            </a:r>
          </a:p>
          <a:p>
            <a:pPr>
              <a:spcAft>
                <a:spcPts val="100"/>
              </a:spcAft>
              <a:defRPr sz="1000">
                <a:solidFill>
                  <a:srgbClr val="A6E22E"/>
                </a:solidFill>
                <a:latin typeface="Consolas"/>
              </a:defRPr>
            </a:pPr>
            <a:r>
              <a:t>    reject = p_value &lt; alpha</a:t>
            </a:r>
          </a:p>
          <a:p>
            <a:pPr>
              <a:spcAft>
                <a:spcPts val="100"/>
              </a:spcAft>
              <a:defRPr sz="1000">
                <a:solidFill>
                  <a:srgbClr val="A6E22E"/>
                </a:solidFill>
                <a:latin typeface="Consolas"/>
              </a:defRPr>
            </a:pPr>
            <a:r>
              <a:t>    return {</a:t>
            </a:r>
          </a:p>
          <a:p>
            <a:pPr>
              <a:spcAft>
                <a:spcPts val="100"/>
              </a:spcAft>
              <a:defRPr sz="1000">
                <a:solidFill>
                  <a:srgbClr val="A6E22E"/>
                </a:solidFill>
                <a:latin typeface="Consolas"/>
              </a:defRPr>
            </a:pPr>
            <a:r>
              <a:t>        "f_statistic": round(f_stat, 4),</a:t>
            </a:r>
          </a:p>
          <a:p>
            <a:pPr>
              <a:spcAft>
                <a:spcPts val="100"/>
              </a:spcAft>
              <a:defRPr sz="1000">
                <a:solidFill>
                  <a:srgbClr val="A6E22E"/>
                </a:solidFill>
                <a:latin typeface="Consolas"/>
              </a:defRPr>
            </a:pPr>
            <a:r>
              <a:t>        "p_value": round(p_value, 6),</a:t>
            </a:r>
          </a:p>
          <a:p>
            <a:pPr>
              <a:spcAft>
                <a:spcPts val="100"/>
              </a:spcAft>
              <a:defRPr sz="1000">
                <a:solidFill>
                  <a:srgbClr val="A6E22E"/>
                </a:solidFill>
                <a:latin typeface="Consolas"/>
              </a:defRPr>
            </a:pPr>
            <a:r>
              <a:t>        "reject_H0": reject,</a:t>
            </a:r>
          </a:p>
          <a:p>
            <a:pPr>
              <a:spcAft>
                <a:spcPts val="100"/>
              </a:spcAft>
              <a:defRPr sz="1000">
                <a:solidFill>
                  <a:srgbClr val="A6E22E"/>
                </a:solidFill>
                <a:latin typeface="Consolas"/>
              </a:defRPr>
            </a:pPr>
            <a:r>
              <a:t>        "conclusion": f"Sector returns {'ARE' if reject else 'ARE NOT'}"</a:t>
            </a:r>
          </a:p>
          <a:p>
            <a:pPr>
              <a:spcAft>
                <a:spcPts val="100"/>
              </a:spcAft>
              <a:defRPr sz="1000">
                <a:solidFill>
                  <a:srgbClr val="A6E22E"/>
                </a:solidFill>
                <a:latin typeface="Consolas"/>
              </a:defRPr>
            </a:pPr>
            <a:r>
              <a:t>                      f" significantly different."</a:t>
            </a:r>
          </a:p>
          <a:p>
            <a:pPr>
              <a:spcAft>
                <a:spcPts val="100"/>
              </a:spcAft>
              <a:defRPr sz="1000">
                <a:solidFill>
                  <a:srgbClr val="A6E22E"/>
                </a:solidFill>
                <a:latin typeface="Consolas"/>
              </a:defRPr>
            </a:pPr>
            <a:r>
              <a:t>    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44652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u="sng">
                <a:solidFill>
                  <a:srgbClr val="1F77B4"/>
                </a:solidFill>
                <a:hlinkClick r:id="rId3"/>
              </a:rPr>
              <a:t>📄 Source: abish_stats.py (lines 149-162)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0" y="4663440"/>
            <a:ext cx="4572000" cy="164592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69480" y="4754880"/>
            <a:ext cx="42976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000">
                <a:solidFill>
                  <a:srgbClr val="A6E22E"/>
                </a:solidFill>
                <a:latin typeface="Consolas"/>
              </a:defRPr>
            </a:pPr>
            <a:r>
              <a:t># data_loader.py — Sector Map</a:t>
            </a:r>
          </a:p>
          <a:p>
            <a:pPr>
              <a:spcAft>
                <a:spcPts val="100"/>
              </a:spcAft>
              <a:defRPr sz="1000">
                <a:solidFill>
                  <a:srgbClr val="A6E22E"/>
                </a:solidFill>
                <a:latin typeface="Consolas"/>
              </a:defRPr>
            </a:pPr>
            <a:r>
              <a:t>SECTORS = {</a:t>
            </a:r>
          </a:p>
          <a:p>
            <a:pPr>
              <a:spcAft>
                <a:spcPts val="100"/>
              </a:spcAft>
              <a:defRPr sz="1000">
                <a:solidFill>
                  <a:srgbClr val="A6E22E"/>
                </a:solidFill>
                <a:latin typeface="Consolas"/>
              </a:defRPr>
            </a:pPr>
            <a:r>
              <a:t>    "Banking": ["HDFCBANK.NS", ...],</a:t>
            </a:r>
          </a:p>
          <a:p>
            <a:pPr>
              <a:spcAft>
                <a:spcPts val="100"/>
              </a:spcAft>
              <a:defRPr sz="1000">
                <a:solidFill>
                  <a:srgbClr val="A6E22E"/>
                </a:solidFill>
                <a:latin typeface="Consolas"/>
              </a:defRPr>
            </a:pPr>
            <a:r>
              <a:t>    "IT":      ["TCS.NS", ...],</a:t>
            </a:r>
          </a:p>
          <a:p>
            <a:pPr>
              <a:spcAft>
                <a:spcPts val="100"/>
              </a:spcAft>
              <a:defRPr sz="1000">
                <a:solidFill>
                  <a:srgbClr val="A6E22E"/>
                </a:solidFill>
                <a:latin typeface="Consolas"/>
              </a:defRPr>
            </a:pPr>
            <a:r>
              <a:t>    "FMCG":    ["HINDUNILVR.NS", ...],</a:t>
            </a:r>
          </a:p>
          <a:p>
            <a:pPr>
              <a:spcAft>
                <a:spcPts val="100"/>
              </a:spcAft>
              <a:defRPr sz="1000">
                <a:solidFill>
                  <a:srgbClr val="A6E22E"/>
                </a:solidFill>
                <a:latin typeface="Consolas"/>
              </a:defRPr>
            </a:pPr>
            <a:r>
              <a:t>    "Pharma":  ["SUNPHARMA.NS", ...],</a:t>
            </a:r>
          </a:p>
          <a:p>
            <a:pPr>
              <a:spcAft>
                <a:spcPts val="100"/>
              </a:spcAft>
              <a:defRPr sz="1000">
                <a:solidFill>
                  <a:srgbClr val="A6E22E"/>
                </a:solidFill>
                <a:latin typeface="Consolas"/>
              </a:defRPr>
            </a:pPr>
            <a:r>
              <a:t>    "Energy":  ["RELIANCE.NS", ...],</a:t>
            </a:r>
          </a:p>
          <a:p>
            <a:pPr>
              <a:spcAft>
                <a:spcPts val="100"/>
              </a:spcAft>
              <a:defRPr sz="1000">
                <a:solidFill>
                  <a:srgbClr val="A6E22E"/>
                </a:solidFill>
                <a:latin typeface="Consolas"/>
              </a:defRPr>
            </a:pPr>
            <a:r>
              <a:t>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644652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u="sng">
                <a:solidFill>
                  <a:srgbClr val="1F77B4"/>
                </a:solidFill>
                <a:hlinkClick r:id="rId4"/>
              </a:rPr>
              <a:t>📄 Source: data_loader.py (lines 15-21)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F77B4"/>
                </a:solidFill>
                <a:latin typeface="Calibri"/>
              </a:defRPr>
            </a:pPr>
            <a:r>
              <a:t>Tab 5: ML Predictions — Logistic Regression</a:t>
            </a:r>
          </a:p>
        </p:txBody>
      </p:sp>
      <p:pic>
        <p:nvPicPr>
          <p:cNvPr id="3" name="Picture 2" descr="ml_conf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4572000" cy="3017520"/>
          </a:xfrm>
          <a:prstGeom prst="rect">
            <a:avLst/>
          </a:prstGeom>
        </p:spPr>
      </p:pic>
      <p:pic>
        <p:nvPicPr>
          <p:cNvPr id="4" name="Picture 3" descr="ml_coeffici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1097280"/>
            <a:ext cx="6858000" cy="30175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274320" y="4297680"/>
            <a:ext cx="7315200" cy="237744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4389120"/>
            <a:ext cx="70408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900">
                <a:solidFill>
                  <a:srgbClr val="A6E22E"/>
                </a:solidFill>
                <a:latin typeface="Consolas"/>
              </a:defRPr>
            </a:pPr>
            <a:r>
              <a:t># laksh_ml.py — Logistic Regression</a:t>
            </a:r>
          </a:p>
          <a:p>
            <a:pPr>
              <a:spcAft>
                <a:spcPts val="100"/>
              </a:spcAft>
              <a:defRPr sz="900">
                <a:solidFill>
                  <a:srgbClr val="A6E22E"/>
                </a:solidFill>
                <a:latin typeface="Consolas"/>
              </a:defRPr>
            </a:pPr>
            <a:r>
              <a:t>def train_logistic_model(df, test_size=0.2, random_state=42):</a:t>
            </a:r>
          </a:p>
          <a:p>
            <a:pPr>
              <a:spcAft>
                <a:spcPts val="100"/>
              </a:spcAft>
              <a:defRPr sz="900">
                <a:solidFill>
                  <a:srgbClr val="A6E22E"/>
                </a:solidFill>
                <a:latin typeface="Consolas"/>
              </a:defRPr>
            </a:pPr>
            <a:r>
              <a:t>    X = df[FEATURE_COLS].values</a:t>
            </a:r>
          </a:p>
          <a:p>
            <a:pPr>
              <a:spcAft>
                <a:spcPts val="100"/>
              </a:spcAft>
              <a:defRPr sz="900">
                <a:solidFill>
                  <a:srgbClr val="A6E22E"/>
                </a:solidFill>
                <a:latin typeface="Consolas"/>
              </a:defRPr>
            </a:pPr>
            <a:r>
              <a:t>    y = df["target"].values</a:t>
            </a:r>
          </a:p>
          <a:p>
            <a:pPr>
              <a:spcAft>
                <a:spcPts val="100"/>
              </a:spcAft>
              <a:defRPr sz="900">
                <a:solidFill>
                  <a:srgbClr val="A6E22E"/>
                </a:solidFill>
                <a:latin typeface="Consolas"/>
              </a:defRPr>
            </a:pPr>
            <a:r>
              <a:t>    model = Pipeline([</a:t>
            </a:r>
          </a:p>
          <a:p>
            <a:pPr>
              <a:spcAft>
                <a:spcPts val="100"/>
              </a:spcAft>
              <a:defRPr sz="900">
                <a:solidFill>
                  <a:srgbClr val="A6E22E"/>
                </a:solidFill>
                <a:latin typeface="Consolas"/>
              </a:defRPr>
            </a:pPr>
            <a:r>
              <a:t>        ("scaler", StandardScaler()),</a:t>
            </a:r>
          </a:p>
          <a:p>
            <a:pPr>
              <a:spcAft>
                <a:spcPts val="100"/>
              </a:spcAft>
              <a:defRPr sz="900">
                <a:solidFill>
                  <a:srgbClr val="A6E22E"/>
                </a:solidFill>
                <a:latin typeface="Consolas"/>
              </a:defRPr>
            </a:pPr>
            <a:r>
              <a:t>        ("model", LogisticRegression(max_iter=1000,</a:t>
            </a:r>
          </a:p>
          <a:p>
            <a:pPr>
              <a:spcAft>
                <a:spcPts val="100"/>
              </a:spcAft>
              <a:defRPr sz="900">
                <a:solidFill>
                  <a:srgbClr val="A6E22E"/>
                </a:solidFill>
                <a:latin typeface="Consolas"/>
              </a:defRPr>
            </a:pPr>
            <a:r>
              <a:t>             class_weight="balanced", solver="lbfgs")),</a:t>
            </a:r>
          </a:p>
          <a:p>
            <a:pPr>
              <a:spcAft>
                <a:spcPts val="100"/>
              </a:spcAft>
              <a:defRPr sz="900">
                <a:solidFill>
                  <a:srgbClr val="A6E22E"/>
                </a:solidFill>
                <a:latin typeface="Consolas"/>
              </a:defRPr>
            </a:pPr>
            <a:r>
              <a:t>    ])</a:t>
            </a:r>
          </a:p>
          <a:p>
            <a:pPr>
              <a:spcAft>
                <a:spcPts val="100"/>
              </a:spcAft>
              <a:defRPr sz="900">
                <a:solidFill>
                  <a:srgbClr val="A6E22E"/>
                </a:solidFill>
                <a:latin typeface="Consolas"/>
              </a:defRPr>
            </a:pPr>
            <a:r>
              <a:t>    model.fit(X_train, y_train)</a:t>
            </a:r>
          </a:p>
          <a:p>
            <a:pPr>
              <a:spcAft>
                <a:spcPts val="100"/>
              </a:spcAft>
              <a:defRPr sz="900">
                <a:solidFill>
                  <a:srgbClr val="A6E22E"/>
                </a:solidFill>
                <a:latin typeface="Consolas"/>
              </a:defRPr>
            </a:pPr>
            <a:r>
              <a:t>    accuracy = accuracy_score(y_test, model.predict(X_test))</a:t>
            </a:r>
          </a:p>
          <a:p>
            <a:pPr>
              <a:spcAft>
                <a:spcPts val="100"/>
              </a:spcAft>
              <a:defRPr sz="900">
                <a:solidFill>
                  <a:srgbClr val="A6E22E"/>
                </a:solidFill>
                <a:latin typeface="Consolas"/>
              </a:defRPr>
            </a:pPr>
            <a:r>
              <a:t>    return {"accuracy": accuracy, "confusion_matrix": cm, ...}</a:t>
            </a:r>
          </a:p>
          <a:p>
            <a:pPr>
              <a:spcAft>
                <a:spcPts val="100"/>
              </a:spcAft>
              <a:defRPr sz="900">
                <a:solidFill>
                  <a:srgbClr val="A6E22E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900">
                <a:solidFill>
                  <a:srgbClr val="A6E22E"/>
                </a:solidFill>
                <a:latin typeface="Consolas"/>
              </a:defRPr>
            </a:pPr>
            <a:r>
              <a:t>def predict_tomorrow(model_result, latest_row):</a:t>
            </a:r>
          </a:p>
          <a:p>
            <a:pPr>
              <a:spcAft>
                <a:spcPts val="100"/>
              </a:spcAft>
              <a:defRPr sz="900">
                <a:solidFill>
                  <a:srgbClr val="A6E22E"/>
                </a:solidFill>
                <a:latin typeface="Consolas"/>
              </a:defRPr>
            </a:pPr>
            <a:r>
              <a:t>    probs = model_result["model"].predict_proba(...)</a:t>
            </a:r>
          </a:p>
          <a:p>
            <a:pPr>
              <a:spcAft>
                <a:spcPts val="100"/>
              </a:spcAft>
              <a:defRPr sz="900">
                <a:solidFill>
                  <a:srgbClr val="A6E22E"/>
                </a:solidFill>
                <a:latin typeface="Consolas"/>
              </a:defRPr>
            </a:pPr>
            <a:r>
              <a:t>    return {"direction": "UP" if probs[1] &gt; 0.5 else "DOWN",</a:t>
            </a:r>
          </a:p>
          <a:p>
            <a:pPr>
              <a:spcAft>
                <a:spcPts val="100"/>
              </a:spcAft>
              <a:defRPr sz="900">
                <a:solidFill>
                  <a:srgbClr val="A6E22E"/>
                </a:solidFill>
                <a:latin typeface="Consolas"/>
              </a:defRPr>
            </a:pPr>
            <a:r>
              <a:t>            "prob_up": probs[1], "confidence": max(probs)*100}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53796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u="sng">
                <a:solidFill>
                  <a:srgbClr val="1F77B4"/>
                </a:solidFill>
                <a:hlinkClick r:id="rId4"/>
              </a:rPr>
              <a:t>📄 Source: laksh_ml.py (lines 68-116)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4297680"/>
            <a:ext cx="3657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24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Output Metrics:</a:t>
            </a:r>
          </a:p>
          <a:p>
            <a:pPr>
              <a:spcAft>
                <a:spcPts val="624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  Signal: UP / DOWN</a:t>
            </a:r>
          </a:p>
          <a:p>
            <a:pPr>
              <a:spcAft>
                <a:spcPts val="624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  P(Up) / P(Down) probability</a:t>
            </a:r>
          </a:p>
          <a:p>
            <a:pPr>
              <a:spcAft>
                <a:spcPts val="624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  Confidence score</a:t>
            </a:r>
          </a:p>
          <a:p>
            <a:pPr>
              <a:spcAft>
                <a:spcPts val="624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  Test &amp; CV Accuracy</a:t>
            </a:r>
          </a:p>
          <a:p>
            <a:pPr>
              <a:spcAft>
                <a:spcPts val="624"/>
              </a:spcAft>
              <a:defRPr sz="1300" b="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624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Model uses 12 engineered features:</a:t>
            </a:r>
          </a:p>
          <a:p>
            <a:pPr>
              <a:spcAft>
                <a:spcPts val="624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  Lag returns, rolling stats,</a:t>
            </a:r>
          </a:p>
          <a:p>
            <a:pPr>
              <a:spcAft>
                <a:spcPts val="624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  RSI, volume ratio,</a:t>
            </a:r>
          </a:p>
          <a:p>
            <a:pPr>
              <a:spcAft>
                <a:spcPts val="624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  distance to moving averages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F77B4"/>
                </a:solidFill>
                <a:latin typeface="Calibri"/>
              </a:defRPr>
            </a:pPr>
            <a:r>
              <a:t>Feature Engineering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BBBBB"/>
                </a:solidFill>
                <a:latin typeface="Calibri"/>
              </a:defRPr>
            </a:pPr>
            <a:r>
              <a:t>12 Engineered Features Feed All ML Models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371600"/>
            <a:ext cx="6858000" cy="50292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0"/>
            <a:ext cx="65836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100">
                <a:solidFill>
                  <a:srgbClr val="A6E22E"/>
                </a:solidFill>
                <a:latin typeface="Consolas"/>
              </a:defRPr>
            </a:pPr>
            <a:r>
              <a:t># data_loader.py — Feature Engineering</a:t>
            </a:r>
          </a:p>
          <a:p>
            <a:pPr>
              <a:spcAft>
                <a:spcPts val="100"/>
              </a:spcAft>
              <a:defRPr sz="1100">
                <a:solidFill>
                  <a:srgbClr val="A6E22E"/>
                </a:solidFill>
                <a:latin typeface="Consolas"/>
              </a:defRPr>
            </a:pPr>
            <a:r>
              <a:t>def engineer_features(ticker, period="2y"):</a:t>
            </a:r>
          </a:p>
          <a:p>
            <a:pPr>
              <a:spcAft>
                <a:spcPts val="100"/>
              </a:spcAft>
              <a:defRPr sz="1100">
                <a:solidFill>
                  <a:srgbClr val="A6E22E"/>
                </a:solidFill>
                <a:latin typeface="Consolas"/>
              </a:defRPr>
            </a:pPr>
            <a:r>
              <a:t>    df["return"] = df["close"].pct_change()</a:t>
            </a:r>
          </a:p>
          <a:p>
            <a:pPr>
              <a:spcAft>
                <a:spcPts val="100"/>
              </a:spcAft>
              <a:defRPr sz="1100">
                <a:solidFill>
                  <a:srgbClr val="A6E22E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100">
                <a:solidFill>
                  <a:srgbClr val="A6E22E"/>
                </a:solidFill>
                <a:latin typeface="Consolas"/>
              </a:defRPr>
            </a:pPr>
            <a:r>
              <a:t>    # Lag features</a:t>
            </a:r>
          </a:p>
          <a:p>
            <a:pPr>
              <a:spcAft>
                <a:spcPts val="100"/>
              </a:spcAft>
              <a:defRPr sz="1100">
                <a:solidFill>
                  <a:srgbClr val="A6E22E"/>
                </a:solidFill>
                <a:latin typeface="Consolas"/>
              </a:defRPr>
            </a:pPr>
            <a:r>
              <a:t>    for lag in (1, 2, 3, 5):</a:t>
            </a:r>
          </a:p>
          <a:p>
            <a:pPr>
              <a:spcAft>
                <a:spcPts val="100"/>
              </a:spcAft>
              <a:defRPr sz="1100">
                <a:solidFill>
                  <a:srgbClr val="A6E22E"/>
                </a:solidFill>
                <a:latin typeface="Consolas"/>
              </a:defRPr>
            </a:pPr>
            <a:r>
              <a:t>        df[f"lag_{lag}"] = df["return"].shift(lag)</a:t>
            </a:r>
          </a:p>
          <a:p>
            <a:pPr>
              <a:spcAft>
                <a:spcPts val="100"/>
              </a:spcAft>
              <a:defRPr sz="1100">
                <a:solidFill>
                  <a:srgbClr val="A6E22E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100">
                <a:solidFill>
                  <a:srgbClr val="A6E22E"/>
                </a:solidFill>
                <a:latin typeface="Consolas"/>
              </a:defRPr>
            </a:pPr>
            <a:r>
              <a:t>    # Rolling statistics</a:t>
            </a:r>
          </a:p>
          <a:p>
            <a:pPr>
              <a:spcAft>
                <a:spcPts val="100"/>
              </a:spcAft>
              <a:defRPr sz="1100">
                <a:solidFill>
                  <a:srgbClr val="A6E22E"/>
                </a:solidFill>
                <a:latin typeface="Consolas"/>
              </a:defRPr>
            </a:pPr>
            <a:r>
              <a:t>    for window in (5, 20):</a:t>
            </a:r>
          </a:p>
          <a:p>
            <a:pPr>
              <a:spcAft>
                <a:spcPts val="100"/>
              </a:spcAft>
              <a:defRPr sz="1100">
                <a:solidFill>
                  <a:srgbClr val="A6E22E"/>
                </a:solidFill>
                <a:latin typeface="Consolas"/>
              </a:defRPr>
            </a:pPr>
            <a:r>
              <a:t>        df[f"rolling_mean_{window}"] = df["return"].rolling(window).mean()</a:t>
            </a:r>
          </a:p>
          <a:p>
            <a:pPr>
              <a:spcAft>
                <a:spcPts val="100"/>
              </a:spcAft>
              <a:defRPr sz="1100">
                <a:solidFill>
                  <a:srgbClr val="A6E22E"/>
                </a:solidFill>
                <a:latin typeface="Consolas"/>
              </a:defRPr>
            </a:pPr>
            <a:r>
              <a:t>        df[f"rolling_std_{window}"]  = df["return"].rolling(window).std()</a:t>
            </a:r>
          </a:p>
          <a:p>
            <a:pPr>
              <a:spcAft>
                <a:spcPts val="100"/>
              </a:spcAft>
              <a:defRPr sz="1100">
                <a:solidFill>
                  <a:srgbClr val="A6E22E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100">
                <a:solidFill>
                  <a:srgbClr val="A6E22E"/>
                </a:solidFill>
                <a:latin typeface="Consolas"/>
              </a:defRPr>
            </a:pPr>
            <a:r>
              <a:t>    # RSI (Relative Strength Index)</a:t>
            </a:r>
          </a:p>
          <a:p>
            <a:pPr>
              <a:spcAft>
                <a:spcPts val="100"/>
              </a:spcAft>
              <a:defRPr sz="1100">
                <a:solidFill>
                  <a:srgbClr val="A6E22E"/>
                </a:solidFill>
                <a:latin typeface="Consolas"/>
              </a:defRPr>
            </a:pPr>
            <a:r>
              <a:t>    delta = df["close"].diff()</a:t>
            </a:r>
          </a:p>
          <a:p>
            <a:pPr>
              <a:spcAft>
                <a:spcPts val="100"/>
              </a:spcAft>
              <a:defRPr sz="1100">
                <a:solidFill>
                  <a:srgbClr val="A6E22E"/>
                </a:solidFill>
                <a:latin typeface="Consolas"/>
              </a:defRPr>
            </a:pPr>
            <a:r>
              <a:t>    gain  = delta.clip(lower=0).rolling(14).mean()</a:t>
            </a:r>
          </a:p>
          <a:p>
            <a:pPr>
              <a:spcAft>
                <a:spcPts val="100"/>
              </a:spcAft>
              <a:defRPr sz="1100">
                <a:solidFill>
                  <a:srgbClr val="A6E22E"/>
                </a:solidFill>
                <a:latin typeface="Consolas"/>
              </a:defRPr>
            </a:pPr>
            <a:r>
              <a:t>    loss  = (-delta.clip(upper=0)).rolling(14).mean()</a:t>
            </a:r>
          </a:p>
          <a:p>
            <a:pPr>
              <a:spcAft>
                <a:spcPts val="100"/>
              </a:spcAft>
              <a:defRPr sz="1100">
                <a:solidFill>
                  <a:srgbClr val="A6E22E"/>
                </a:solidFill>
                <a:latin typeface="Consolas"/>
              </a:defRPr>
            </a:pPr>
            <a:r>
              <a:t>    df["rsi"] = 100 - (100 / (1 + gain / loss))</a:t>
            </a:r>
          </a:p>
          <a:p>
            <a:pPr>
              <a:spcAft>
                <a:spcPts val="100"/>
              </a:spcAft>
              <a:defRPr sz="1100">
                <a:solidFill>
                  <a:srgbClr val="A6E22E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100">
                <a:solidFill>
                  <a:srgbClr val="A6E22E"/>
                </a:solidFill>
                <a:latin typeface="Consolas"/>
              </a:defRPr>
            </a:pPr>
            <a:r>
              <a:t>    # Volume ratio</a:t>
            </a:r>
          </a:p>
          <a:p>
            <a:pPr>
              <a:spcAft>
                <a:spcPts val="100"/>
              </a:spcAft>
              <a:defRPr sz="1100">
                <a:solidFill>
                  <a:srgbClr val="A6E22E"/>
                </a:solidFill>
                <a:latin typeface="Consolas"/>
              </a:defRPr>
            </a:pPr>
            <a:r>
              <a:t>    df["volume_ratio"] = df["volume"] / df["volume"].rolling(20).mean()</a:t>
            </a:r>
          </a:p>
          <a:p>
            <a:pPr>
              <a:spcAft>
                <a:spcPts val="100"/>
              </a:spcAft>
              <a:defRPr sz="1100">
                <a:solidFill>
                  <a:srgbClr val="A6E22E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100">
                <a:solidFill>
                  <a:srgbClr val="A6E22E"/>
                </a:solidFill>
                <a:latin typeface="Consolas"/>
              </a:defRPr>
            </a:pPr>
            <a:r>
              <a:t>    # Distance to moving averages</a:t>
            </a:r>
          </a:p>
          <a:p>
            <a:pPr>
              <a:spcAft>
                <a:spcPts val="100"/>
              </a:spcAft>
              <a:defRPr sz="1100">
                <a:solidFill>
                  <a:srgbClr val="A6E22E"/>
                </a:solidFill>
                <a:latin typeface="Consolas"/>
              </a:defRPr>
            </a:pPr>
            <a:r>
              <a:t>    for window in (20, 50):</a:t>
            </a:r>
          </a:p>
          <a:p>
            <a:pPr>
              <a:spcAft>
                <a:spcPts val="100"/>
              </a:spcAft>
              <a:defRPr sz="1100">
                <a:solidFill>
                  <a:srgbClr val="A6E22E"/>
                </a:solidFill>
                <a:latin typeface="Consolas"/>
              </a:defRPr>
            </a:pPr>
            <a:r>
              <a:t>        ma = df["close"].rolling(window).mean()</a:t>
            </a:r>
          </a:p>
          <a:p>
            <a:pPr>
              <a:spcAft>
                <a:spcPts val="100"/>
              </a:spcAft>
              <a:defRPr sz="1100">
                <a:solidFill>
                  <a:srgbClr val="A6E22E"/>
                </a:solidFill>
                <a:latin typeface="Consolas"/>
              </a:defRPr>
            </a:pPr>
            <a:r>
              <a:t>        df[f"dist_ma{window}"] = (df["close"] - ma) / ma</a:t>
            </a:r>
          </a:p>
          <a:p>
            <a:pPr>
              <a:spcAft>
                <a:spcPts val="100"/>
              </a:spcAft>
              <a:defRPr sz="1100">
                <a:solidFill>
                  <a:srgbClr val="A6E22E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100">
                <a:solidFill>
                  <a:srgbClr val="A6E22E"/>
                </a:solidFill>
                <a:latin typeface="Consolas"/>
              </a:defRPr>
            </a:pPr>
            <a:r>
              <a:t>    # Target: next-day direction</a:t>
            </a:r>
          </a:p>
          <a:p>
            <a:pPr>
              <a:spcAft>
                <a:spcPts val="100"/>
              </a:spcAft>
              <a:defRPr sz="1100">
                <a:solidFill>
                  <a:srgbClr val="A6E22E"/>
                </a:solidFill>
                <a:latin typeface="Consolas"/>
              </a:defRPr>
            </a:pPr>
            <a:r>
              <a:t>    df["target"] = (df["return"].shift(-1) &gt; 0).astype(int)</a:t>
            </a:r>
          </a:p>
          <a:p>
            <a:pPr>
              <a:spcAft>
                <a:spcPts val="100"/>
              </a:spcAft>
              <a:defRPr sz="1100">
                <a:solidFill>
                  <a:srgbClr val="A6E22E"/>
                </a:solidFill>
                <a:latin typeface="Consolas"/>
              </a:defRPr>
            </a:pPr>
            <a:r>
              <a:t>    return df.dropna()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922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u="sng">
                <a:solidFill>
                  <a:srgbClr val="1F77B4"/>
                </a:solidFill>
                <a:hlinkClick r:id="rId2"/>
              </a:rPr>
              <a:t>📄 Source: data_loader.py (lines 89-119)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137160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7F0E"/>
                </a:solidFill>
                <a:latin typeface="Calibri"/>
              </a:defRPr>
            </a:pPr>
            <a:r>
              <a:t>Feature Categories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1920240"/>
            <a:ext cx="3931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24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Momentum / Lag Features:</a:t>
            </a:r>
          </a:p>
          <a:p>
            <a:pPr>
              <a:spcAft>
                <a:spcPts val="624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  lag_1, lag_2, lag_3, lag_5</a:t>
            </a:r>
          </a:p>
          <a:p>
            <a:pPr>
              <a:spcAft>
                <a:spcPts val="624"/>
              </a:spcAft>
              <a:defRPr sz="1300" b="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624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Volatility Features:</a:t>
            </a:r>
          </a:p>
          <a:p>
            <a:pPr>
              <a:spcAft>
                <a:spcPts val="624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  rolling_mean_5, rolling_std_5</a:t>
            </a:r>
          </a:p>
          <a:p>
            <a:pPr>
              <a:spcAft>
                <a:spcPts val="624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  rolling_mean_20, rolling_std_20</a:t>
            </a:r>
          </a:p>
          <a:p>
            <a:pPr>
              <a:spcAft>
                <a:spcPts val="624"/>
              </a:spcAft>
              <a:defRPr sz="1300" b="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624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Technical Indicators:</a:t>
            </a:r>
          </a:p>
          <a:p>
            <a:pPr>
              <a:spcAft>
                <a:spcPts val="624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  rsi (14-day RSI)</a:t>
            </a:r>
          </a:p>
          <a:p>
            <a:pPr>
              <a:spcAft>
                <a:spcPts val="624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  volume_ratio (vs 20-day avg)</a:t>
            </a:r>
          </a:p>
          <a:p>
            <a:pPr>
              <a:spcAft>
                <a:spcPts val="624"/>
              </a:spcAft>
              <a:defRPr sz="1300" b="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624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Trend Features:</a:t>
            </a:r>
          </a:p>
          <a:p>
            <a:pPr>
              <a:spcAft>
                <a:spcPts val="624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  dist_ma20, dist_ma50</a:t>
            </a:r>
          </a:p>
          <a:p>
            <a:pPr>
              <a:spcAft>
                <a:spcPts val="624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  (price distance to moving avg)</a:t>
            </a:r>
          </a:p>
          <a:p>
            <a:pPr>
              <a:spcAft>
                <a:spcPts val="624"/>
              </a:spcAft>
              <a:defRPr sz="1300" b="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624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Target Variable:</a:t>
            </a:r>
          </a:p>
          <a:p>
            <a:pPr>
              <a:spcAft>
                <a:spcPts val="624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  Binary: 1 if next-day return &gt; 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F77B4"/>
                </a:solidFill>
                <a:latin typeface="Calibri"/>
              </a:defRPr>
            </a:pPr>
            <a:r>
              <a:t>Tab 6: Ridge &amp; Lasso Regression</a:t>
            </a:r>
          </a:p>
        </p:txBody>
      </p:sp>
      <p:pic>
        <p:nvPicPr>
          <p:cNvPr id="3" name="Picture 2" descr="ridge_coef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97280"/>
            <a:ext cx="5760720" cy="2560320"/>
          </a:xfrm>
          <a:prstGeom prst="rect">
            <a:avLst/>
          </a:prstGeom>
        </p:spPr>
      </p:pic>
      <p:pic>
        <p:nvPicPr>
          <p:cNvPr id="4" name="Picture 3" descr="lasso_coef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097280"/>
            <a:ext cx="5760720" cy="25603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82880" y="3840480"/>
            <a:ext cx="5760720" cy="164592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3931920"/>
            <a:ext cx="5486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900">
                <a:solidFill>
                  <a:srgbClr val="A6E22E"/>
                </a:solidFill>
                <a:latin typeface="Consolas"/>
              </a:defRPr>
            </a:pPr>
            <a:r>
              <a:t># laksh_ml.py — Ridge Regression</a:t>
            </a:r>
          </a:p>
          <a:p>
            <a:pPr>
              <a:spcAft>
                <a:spcPts val="100"/>
              </a:spcAft>
              <a:defRPr sz="900">
                <a:solidFill>
                  <a:srgbClr val="A6E22E"/>
                </a:solidFill>
                <a:latin typeface="Consolas"/>
              </a:defRPr>
            </a:pPr>
            <a:r>
              <a:t>def train_ridge_model(df, test_size=0.2):</a:t>
            </a:r>
          </a:p>
          <a:p>
            <a:pPr>
              <a:spcAft>
                <a:spcPts val="100"/>
              </a:spcAft>
              <a:defRPr sz="900">
                <a:solidFill>
                  <a:srgbClr val="A6E22E"/>
                </a:solidFill>
                <a:latin typeface="Consolas"/>
              </a:defRPr>
            </a:pPr>
            <a:r>
              <a:t>    alphas = np.logspace(-3, 4, 100)</a:t>
            </a:r>
          </a:p>
          <a:p>
            <a:pPr>
              <a:spcAft>
                <a:spcPts val="100"/>
              </a:spcAft>
              <a:defRPr sz="900">
                <a:solidFill>
                  <a:srgbClr val="A6E22E"/>
                </a:solidFill>
                <a:latin typeface="Consolas"/>
              </a:defRPr>
            </a:pPr>
            <a:r>
              <a:t>    best_alpha = RidgeCV(alphas=alphas,</a:t>
            </a:r>
          </a:p>
          <a:p>
            <a:pPr>
              <a:spcAft>
                <a:spcPts val="100"/>
              </a:spcAft>
              <a:defRPr sz="900">
                <a:solidFill>
                  <a:srgbClr val="A6E22E"/>
                </a:solidFill>
                <a:latin typeface="Consolas"/>
              </a:defRPr>
            </a:pPr>
            <a:r>
              <a:t>        cv=TimeSeriesSplit(n_splits=5)).fit(X_train, y_train).alpha_</a:t>
            </a:r>
          </a:p>
          <a:p>
            <a:pPr>
              <a:spcAft>
                <a:spcPts val="100"/>
              </a:spcAft>
              <a:defRPr sz="900">
                <a:solidFill>
                  <a:srgbClr val="A6E22E"/>
                </a:solidFill>
                <a:latin typeface="Consolas"/>
              </a:defRPr>
            </a:pPr>
            <a:r>
              <a:t>    model = Ridge(alpha=best_alpha).fit(X_train, y_train)</a:t>
            </a:r>
          </a:p>
          <a:p>
            <a:pPr>
              <a:spcAft>
                <a:spcPts val="100"/>
              </a:spcAft>
              <a:defRPr sz="900">
                <a:solidFill>
                  <a:srgbClr val="A6E22E"/>
                </a:solidFill>
                <a:latin typeface="Consolas"/>
              </a:defRPr>
            </a:pPr>
            <a:r>
              <a:t>    return {"best_alpha": best_alpha, "r2_score": r2,</a:t>
            </a:r>
          </a:p>
          <a:p>
            <a:pPr>
              <a:spcAft>
                <a:spcPts val="100"/>
              </a:spcAft>
              <a:defRPr sz="900">
                <a:solidFill>
                  <a:srgbClr val="A6E22E"/>
                </a:solidFill>
                <a:latin typeface="Consolas"/>
              </a:defRPr>
            </a:pPr>
            <a:r>
              <a:t>            "rmse": rmse, "coef_df": coef_df, ...}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553212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u="sng">
                <a:solidFill>
                  <a:srgbClr val="1F77B4"/>
                </a:solidFill>
                <a:hlinkClick r:id="rId4"/>
              </a:rPr>
              <a:t>📄 Source: laksh_ml.py (lines 123-152)</a:t>
            </a:r>
          </a:p>
        </p:txBody>
      </p:sp>
      <p:sp>
        <p:nvSpPr>
          <p:cNvPr id="8" name="Rectangle 7"/>
          <p:cNvSpPr/>
          <p:nvPr/>
        </p:nvSpPr>
        <p:spPr>
          <a:xfrm>
            <a:off x="6126480" y="3840480"/>
            <a:ext cx="5760720" cy="164592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63640" y="3931920"/>
            <a:ext cx="5486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900">
                <a:solidFill>
                  <a:srgbClr val="A6E22E"/>
                </a:solidFill>
                <a:latin typeface="Consolas"/>
              </a:defRPr>
            </a:pPr>
            <a:r>
              <a:t># laksh_ml.py — Lasso Regression</a:t>
            </a:r>
          </a:p>
          <a:p>
            <a:pPr>
              <a:spcAft>
                <a:spcPts val="100"/>
              </a:spcAft>
              <a:defRPr sz="900">
                <a:solidFill>
                  <a:srgbClr val="A6E22E"/>
                </a:solidFill>
                <a:latin typeface="Consolas"/>
              </a:defRPr>
            </a:pPr>
            <a:r>
              <a:t>def train_lasso_model(df, test_size=0.2):</a:t>
            </a:r>
          </a:p>
          <a:p>
            <a:pPr>
              <a:spcAft>
                <a:spcPts val="100"/>
              </a:spcAft>
              <a:defRPr sz="900">
                <a:solidFill>
                  <a:srgbClr val="A6E22E"/>
                </a:solidFill>
                <a:latin typeface="Consolas"/>
              </a:defRPr>
            </a:pPr>
            <a:r>
              <a:t>    alphas = np.logspace(-6, 2, 80)</a:t>
            </a:r>
          </a:p>
          <a:p>
            <a:pPr>
              <a:spcAft>
                <a:spcPts val="100"/>
              </a:spcAft>
              <a:defRPr sz="900">
                <a:solidFill>
                  <a:srgbClr val="A6E22E"/>
                </a:solidFill>
                <a:latin typeface="Consolas"/>
              </a:defRPr>
            </a:pPr>
            <a:r>
              <a:t>    best_alpha = LassoCV(alphas=alphas,</a:t>
            </a:r>
          </a:p>
          <a:p>
            <a:pPr>
              <a:spcAft>
                <a:spcPts val="100"/>
              </a:spcAft>
              <a:defRPr sz="900">
                <a:solidFill>
                  <a:srgbClr val="A6E22E"/>
                </a:solidFill>
                <a:latin typeface="Consolas"/>
              </a:defRPr>
            </a:pPr>
            <a:r>
              <a:t>        cv=TimeSeriesSplit(n_splits=5)).fit(X_train, y_train).alpha_</a:t>
            </a:r>
          </a:p>
          <a:p>
            <a:pPr>
              <a:spcAft>
                <a:spcPts val="100"/>
              </a:spcAft>
              <a:defRPr sz="900">
                <a:solidFill>
                  <a:srgbClr val="A6E22E"/>
                </a:solidFill>
                <a:latin typeface="Consolas"/>
              </a:defRPr>
            </a:pPr>
            <a:r>
              <a:t>    model = Lasso(alpha=best_alpha).fit(X_train, y_train)</a:t>
            </a:r>
          </a:p>
          <a:p>
            <a:pPr>
              <a:spcAft>
                <a:spcPts val="100"/>
              </a:spcAft>
              <a:defRPr sz="900">
                <a:solidFill>
                  <a:srgbClr val="A6E22E"/>
                </a:solidFill>
                <a:latin typeface="Consolas"/>
              </a:defRPr>
            </a:pPr>
            <a:r>
              <a:t>    selected = model.coef_ != 0  # feature selection!</a:t>
            </a:r>
          </a:p>
          <a:p>
            <a:pPr>
              <a:spcAft>
                <a:spcPts val="100"/>
              </a:spcAft>
              <a:defRPr sz="900">
                <a:solidFill>
                  <a:srgbClr val="A6E22E"/>
                </a:solidFill>
                <a:latin typeface="Consolas"/>
              </a:defRPr>
            </a:pPr>
            <a:r>
              <a:t>    return {"n_selected": selected.sum(),</a:t>
            </a:r>
          </a:p>
          <a:p>
            <a:pPr>
              <a:spcAft>
                <a:spcPts val="100"/>
              </a:spcAft>
              <a:defRPr sz="900">
                <a:solidFill>
                  <a:srgbClr val="A6E22E"/>
                </a:solidFill>
                <a:latin typeface="Consolas"/>
              </a:defRPr>
            </a:pPr>
            <a:r>
              <a:t>            "selected_features": chosen, ...}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0" y="553212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u="sng">
                <a:solidFill>
                  <a:srgbClr val="1F77B4"/>
                </a:solidFill>
                <a:hlinkClick r:id="rId5"/>
              </a:rPr>
              <a:t>📄 Source: laksh_ml.py (lines 155-190)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7607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24"/>
              </a:spcAft>
              <a:defRPr sz="1300" b="0">
                <a:solidFill>
                  <a:srgbClr val="BBBBBB"/>
                </a:solidFill>
                <a:latin typeface="Calibri"/>
              </a:defRPr>
            </a:pPr>
            <a:r>
              <a:t>Ridge (L2): Shrinks all coefficients, keeps all features</a:t>
            </a:r>
          </a:p>
          <a:p>
            <a:pPr>
              <a:spcAft>
                <a:spcPts val="624"/>
              </a:spcAft>
              <a:defRPr sz="1300" b="0">
                <a:solidFill>
                  <a:srgbClr val="BBBBBB"/>
                </a:solidFill>
                <a:latin typeface="Calibri"/>
              </a:defRPr>
            </a:pPr>
            <a:r>
              <a:t>Lasso (L1): Can zero out weak features → automatic feature selection</a:t>
            </a:r>
          </a:p>
          <a:p>
            <a:pPr>
              <a:spcAft>
                <a:spcPts val="624"/>
              </a:spcAft>
              <a:defRPr sz="1300" b="0">
                <a:solidFill>
                  <a:srgbClr val="BBBBBB"/>
                </a:solidFill>
                <a:latin typeface="Calibri"/>
              </a:defRPr>
            </a:pPr>
            <a:r>
              <a:t>Both use TimeSeriesSplit cross-validation to find optimal α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F77B4"/>
                </a:solidFill>
                <a:latin typeface="Calibri"/>
              </a:defRPr>
            </a:pPr>
            <a:r>
              <a:t>Lasso Regularization Path</a:t>
            </a:r>
          </a:p>
        </p:txBody>
      </p:sp>
      <p:pic>
        <p:nvPicPr>
          <p:cNvPr id="3" name="Picture 2" descr="lasso_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8229600" cy="4114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0" y="10972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7F0E"/>
                </a:solidFill>
                <a:latin typeface="Calibri"/>
              </a:defRPr>
            </a:pPr>
            <a:r>
              <a:t>How It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645920"/>
            <a:ext cx="2743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24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As α increases (left → right),</a:t>
            </a:r>
          </a:p>
          <a:p>
            <a:pPr>
              <a:spcAft>
                <a:spcPts val="624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the L1 penalty grows stronger.</a:t>
            </a:r>
          </a:p>
          <a:p>
            <a:pPr>
              <a:spcAft>
                <a:spcPts val="624"/>
              </a:spcAft>
              <a:defRPr sz="1300" b="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624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Coefficients shrink toward zero.</a:t>
            </a:r>
          </a:p>
          <a:p>
            <a:pPr>
              <a:spcAft>
                <a:spcPts val="624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Some are forced exactly to zero,</a:t>
            </a:r>
          </a:p>
          <a:p>
            <a:pPr>
              <a:spcAft>
                <a:spcPts val="624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effectively removing them.</a:t>
            </a:r>
          </a:p>
          <a:p>
            <a:pPr>
              <a:spcAft>
                <a:spcPts val="624"/>
              </a:spcAft>
              <a:defRPr sz="1300" b="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624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The dashed line marks the</a:t>
            </a:r>
          </a:p>
          <a:p>
            <a:pPr>
              <a:spcAft>
                <a:spcPts val="624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cross-validated optimal α.</a:t>
            </a:r>
          </a:p>
          <a:p>
            <a:pPr>
              <a:spcAft>
                <a:spcPts val="624"/>
              </a:spcAft>
              <a:defRPr sz="1300" b="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624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Features that survive high α</a:t>
            </a:r>
          </a:p>
          <a:p>
            <a:pPr>
              <a:spcAft>
                <a:spcPts val="624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are the most important.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5394960"/>
            <a:ext cx="7315200" cy="128016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5486400"/>
            <a:ext cx="7040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000">
                <a:solidFill>
                  <a:srgbClr val="A6E22E"/>
                </a:solidFill>
                <a:latin typeface="Consolas"/>
              </a:defRPr>
            </a:pPr>
            <a:r>
              <a:t># Model comparison table (laksh_ml.py)</a:t>
            </a:r>
          </a:p>
          <a:p>
            <a:pPr>
              <a:spcAft>
                <a:spcPts val="100"/>
              </a:spcAft>
              <a:defRPr sz="1000">
                <a:solidFill>
                  <a:srgbClr val="A6E22E"/>
                </a:solidFill>
                <a:latin typeface="Consolas"/>
              </a:defRPr>
            </a:pPr>
            <a:r>
              <a:t>def compare_ridge_lasso(ridge_result, lasso_result):</a:t>
            </a:r>
          </a:p>
          <a:p>
            <a:pPr>
              <a:spcAft>
                <a:spcPts val="100"/>
              </a:spcAft>
              <a:defRPr sz="1000">
                <a:solidFill>
                  <a:srgbClr val="A6E22E"/>
                </a:solidFill>
                <a:latin typeface="Consolas"/>
              </a:defRPr>
            </a:pPr>
            <a:r>
              <a:t>    return pd.DataFrame({</a:t>
            </a:r>
          </a:p>
          <a:p>
            <a:pPr>
              <a:spcAft>
                <a:spcPts val="100"/>
              </a:spcAft>
              <a:defRPr sz="1000">
                <a:solidFill>
                  <a:srgbClr val="A6E22E"/>
                </a:solidFill>
                <a:latin typeface="Consolas"/>
              </a:defRPr>
            </a:pPr>
            <a:r>
              <a:t>        "Metric": ["R² Score", "RMSE", "Best Alpha", "Features Used"],</a:t>
            </a:r>
          </a:p>
          <a:p>
            <a:pPr>
              <a:spcAft>
                <a:spcPts val="100"/>
              </a:spcAft>
              <a:defRPr sz="1000">
                <a:solidFill>
                  <a:srgbClr val="A6E22E"/>
                </a:solidFill>
                <a:latin typeface="Consolas"/>
              </a:defRPr>
            </a:pPr>
            <a:r>
              <a:t>        "Ridge": [ridge["r2_score"], ridge["rmse"], ridge["best_alpha"], 12],</a:t>
            </a:r>
          </a:p>
          <a:p>
            <a:pPr>
              <a:spcAft>
                <a:spcPts val="100"/>
              </a:spcAft>
              <a:defRPr sz="1000">
                <a:solidFill>
                  <a:srgbClr val="A6E22E"/>
                </a:solidFill>
                <a:latin typeface="Consolas"/>
              </a:defRPr>
            </a:pPr>
            <a:r>
              <a:t>        "Lasso": [lasso["r2_score"], lasso["rmse"], lasso["best_alpha"], lasso["n_selected"]],</a:t>
            </a:r>
          </a:p>
          <a:p>
            <a:pPr>
              <a:spcAft>
                <a:spcPts val="100"/>
              </a:spcAft>
              <a:defRPr sz="1000">
                <a:solidFill>
                  <a:srgbClr val="A6E22E"/>
                </a:solidFill>
                <a:latin typeface="Consolas"/>
              </a:defRPr>
            </a:pPr>
            <a:r>
              <a:t>    })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3796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u="sng">
                <a:solidFill>
                  <a:srgbClr val="1F77B4"/>
                </a:solidFill>
                <a:hlinkClick r:id="rId3"/>
              </a:rPr>
              <a:t>📄 Source: laksh_ml.py (lines 197-214)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F77B4"/>
                </a:solidFill>
                <a:latin typeface="Calibri"/>
              </a:defRPr>
            </a:pPr>
            <a:r>
              <a:t>Summary &amp;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7F0E"/>
                </a:solidFill>
                <a:latin typeface="Calibri"/>
              </a:defRPr>
            </a:pPr>
            <a:r>
              <a:t>What the Dashboard Delivers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73736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2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• End-to-end equity analytics in one interactive app</a:t>
            </a:r>
          </a:p>
          <a:p>
            <a:pPr>
              <a:spcAft>
                <a:spcPts val="72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• Real-time data from Yahoo Finance via yfinance</a:t>
            </a:r>
          </a:p>
          <a:p>
            <a:pPr>
              <a:spcAft>
                <a:spcPts val="72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• Descriptive statistics with price &amp; return analysis</a:t>
            </a:r>
          </a:p>
          <a:p>
            <a:pPr>
              <a:spcAft>
                <a:spcPts val="72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• Confidence intervals and MLE for risk profiling</a:t>
            </a:r>
          </a:p>
          <a:p>
            <a:pPr>
              <a:spcAft>
                <a:spcPts val="72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• 4 hypothesis tests for statistical inference</a:t>
            </a:r>
          </a:p>
          <a:p>
            <a:pPr>
              <a:spcAft>
                <a:spcPts val="72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• Cross-sector ANOVA comparison (5 sectors, 25 stocks)</a:t>
            </a:r>
          </a:p>
          <a:p>
            <a:pPr>
              <a:spcAft>
                <a:spcPts val="72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• Logistic regression for next-day direction signals</a:t>
            </a:r>
          </a:p>
          <a:p>
            <a:pPr>
              <a:spcAft>
                <a:spcPts val="72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• Ridge &amp; Lasso with automatic regularization tuning</a:t>
            </a:r>
          </a:p>
          <a:p>
            <a:pPr>
              <a:spcAft>
                <a:spcPts val="72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• Professional Plotly visualisations throughout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0" y="11887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7F0E"/>
                </a:solidFill>
                <a:latin typeface="Calibri"/>
              </a:defRPr>
            </a:pPr>
            <a:r>
              <a:t>Technology Highlights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1737360"/>
            <a:ext cx="48463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2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• Modular architecture: separate files for</a:t>
            </a:r>
          </a:p>
          <a:p>
            <a:pPr>
              <a:spcAft>
                <a:spcPts val="72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•   data, statistics, and ML logic</a:t>
            </a:r>
          </a:p>
          <a:p>
            <a:pPr>
              <a:spcAft>
                <a:spcPts val="72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• Cached data loading for fast interaction</a:t>
            </a:r>
          </a:p>
          <a:p>
            <a:pPr>
              <a:spcAft>
                <a:spcPts val="72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• TimeSeriesSplit prevents data leakage</a:t>
            </a:r>
          </a:p>
          <a:p>
            <a:pPr>
              <a:spcAft>
                <a:spcPts val="72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• Welch's t-test handles unequal variances</a:t>
            </a:r>
          </a:p>
          <a:p>
            <a:pPr>
              <a:spcAft>
                <a:spcPts val="72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• Cross-validated alpha selection for Ridge/Lasso</a:t>
            </a:r>
          </a:p>
          <a:p>
            <a:pPr>
              <a:spcAft>
                <a:spcPts val="72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• Balanced class weights in logistic model</a:t>
            </a:r>
          </a:p>
          <a:p>
            <a:pPr>
              <a:spcAft>
                <a:spcPts val="72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• Clean separation of UI from computation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521208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📈  Live Dashboard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576072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u="sng">
                <a:solidFill>
                  <a:srgbClr val="1F77B4"/>
                </a:solidFill>
                <a:hlinkClick r:id="rId2"/>
              </a:rPr>
              <a:t>https://equity-intelligence-dashboard-2-takthjuvpv7gfysstzxdub.streamlit.app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521208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📦  Source Code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5760720"/>
            <a:ext cx="5029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u="sng">
                <a:solidFill>
                  <a:srgbClr val="1F77B4"/>
                </a:solidFill>
                <a:hlinkClick r:id="rId3"/>
              </a:rPr>
              <a:t>https://github.com/AbishSajiNMIMS/Equity-Intelligence-Dashboard-2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621792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1F77B4"/>
                </a:solidFill>
                <a:latin typeface="Calibri"/>
              </a:defRPr>
            </a:pPr>
            <a:r>
              <a:t>Thank You!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